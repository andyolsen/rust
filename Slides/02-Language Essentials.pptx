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7" r:id="rId2"/>
    <p:sldId id="710" r:id="rId3"/>
    <p:sldId id="532" r:id="rId4"/>
    <p:sldId id="629" r:id="rId5"/>
    <p:sldId id="719" r:id="rId6"/>
    <p:sldId id="726" r:id="rId7"/>
    <p:sldId id="727" r:id="rId8"/>
    <p:sldId id="728" r:id="rId9"/>
    <p:sldId id="729" r:id="rId10"/>
    <p:sldId id="730" r:id="rId11"/>
    <p:sldId id="731" r:id="rId12"/>
    <p:sldId id="732" r:id="rId13"/>
    <p:sldId id="733" r:id="rId14"/>
    <p:sldId id="740" r:id="rId15"/>
    <p:sldId id="741" r:id="rId16"/>
    <p:sldId id="742" r:id="rId17"/>
    <p:sldId id="743" r:id="rId18"/>
    <p:sldId id="744" r:id="rId19"/>
    <p:sldId id="745" r:id="rId20"/>
    <p:sldId id="734" r:id="rId21"/>
    <p:sldId id="735" r:id="rId22"/>
    <p:sldId id="736" r:id="rId23"/>
    <p:sldId id="738" r:id="rId24"/>
    <p:sldId id="739" r:id="rId25"/>
    <p:sldId id="746" r:id="rId26"/>
    <p:sldId id="747" r:id="rId27"/>
    <p:sldId id="748" r:id="rId28"/>
    <p:sldId id="750" r:id="rId29"/>
    <p:sldId id="711" r:id="rId3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80A4"/>
    <a:srgbClr val="CCFFFF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609" autoAdjust="0"/>
    <p:restoredTop sz="96725" autoAdjust="0"/>
  </p:normalViewPr>
  <p:slideViewPr>
    <p:cSldViewPr snapToGrid="0" snapToObjects="1">
      <p:cViewPr varScale="1">
        <p:scale>
          <a:sx n="126" d="100"/>
          <a:sy n="126" d="100"/>
        </p:scale>
        <p:origin x="59" y="411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534"/>
    </p:cViewPr>
  </p:sorterViewPr>
  <p:notesViewPr>
    <p:cSldViewPr snapToGrid="0" snapToObjects="1">
      <p:cViewPr varScale="1">
        <p:scale>
          <a:sx n="84" d="100"/>
          <a:sy n="84" d="100"/>
        </p:scale>
        <p:origin x="263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DEBBD1-6077-4938-811F-54E4AC433829}" type="datetimeFigureOut">
              <a:rPr lang="en-GB" smtClean="0"/>
              <a:t>10/01/2025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77016-B761-47E8-ADDA-7F73F02D164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4563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860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668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021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247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861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5801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65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782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449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147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902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059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55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117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01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1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2263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555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1425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146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52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47045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710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277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3387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22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5E3EC92-0BF8-B04C-BDA1-D36DC16EC2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11061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36832" y="1597819"/>
            <a:ext cx="4975394" cy="110251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Lesson #: Lesson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6831" y="2788538"/>
            <a:ext cx="4975395" cy="1314450"/>
          </a:xfrm>
        </p:spPr>
        <p:txBody>
          <a:bodyPr>
            <a:normAutofit/>
          </a:bodyPr>
          <a:lstStyle>
            <a:lvl1pPr marL="685800" indent="-630936" algn="l">
              <a:buNone/>
              <a:tabLst>
                <a:tab pos="574675" algn="l"/>
              </a:tabLst>
              <a:defRPr sz="2800" b="0" baseline="0">
                <a:solidFill>
                  <a:srgbClr val="0000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#.# 	Learning objective or      Sub-lesson Title</a:t>
            </a:r>
          </a:p>
        </p:txBody>
      </p:sp>
    </p:spTree>
    <p:extLst>
      <p:ext uri="{BB962C8B-B14F-4D97-AF65-F5344CB8AC3E}">
        <p14:creationId xmlns:p14="http://schemas.microsoft.com/office/powerpoint/2010/main" val="3128257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3823434-19E5-7244-957A-48409271A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20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6839712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277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CCCA5-FF07-3E49-BCA2-619E38AACD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1"/>
            <a:ext cx="7552944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46140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344" y="946356"/>
            <a:ext cx="4038600" cy="339447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94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Images or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56CC22-FD07-7A4D-847A-EADD8CC518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-78830"/>
            <a:ext cx="7556938" cy="557784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0618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Gray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161795-AF74-6141-B77F-64153FAB4A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831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Content_No Bottom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0254D4-82EE-7743-8DC5-A96F5C6799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144371" y="-78830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379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51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A03A33-EFE2-8C43-836B-41753232C6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05778" y="1"/>
            <a:ext cx="7548179" cy="56055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14537" y="814771"/>
            <a:ext cx="7539420" cy="3547021"/>
          </a:xfrm>
        </p:spPr>
        <p:txBody>
          <a:bodyPr>
            <a:no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33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>
            <a:alphaModFix amt="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0A6C-EF38-9441-ADBF-8FE45FA6C46E}" type="datetimeFigureOut">
              <a:rPr lang="en-US" smtClean="0"/>
              <a:t>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32D76-6BE4-154B-A130-37D069E4235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457200" y="210636"/>
            <a:ext cx="8229600" cy="5605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37476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sz="3400" dirty="0">
                <a:solidFill>
                  <a:schemeClr val="bg1"/>
                </a:solidFill>
              </a:rPr>
              <a:t>Language Essentials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Variables and types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Flow control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Enums</a:t>
            </a:r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/>
              <a:t>Compound types</a:t>
            </a:r>
            <a:endParaRPr lang="en-GB" sz="2200" dirty="0"/>
          </a:p>
          <a:p>
            <a:pPr marL="449263" indent="-393700">
              <a:buFont typeface="+mj-lt"/>
              <a:buAutoNum type="arabicPeriod"/>
              <a:tabLst>
                <a:tab pos="268288" algn="l"/>
              </a:tabLst>
            </a:pPr>
            <a:r>
              <a:rPr lang="en-GB" sz="2200" dirty="0"/>
              <a:t>Collection classes</a:t>
            </a:r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GB" sz="2200" dirty="0"/>
          </a:p>
          <a:p>
            <a:pPr marL="569913" indent="-514350">
              <a:buFont typeface="+mj-lt"/>
              <a:buAutoNum type="arabicPeriod"/>
              <a:tabLst>
                <a:tab pos="268288" algn="l"/>
              </a:tabLst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00548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1. Variables and Types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Integer types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Floating-point types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Other simple types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401319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take a look at the primitive types available in the Rust language</a:t>
            </a:r>
          </a:p>
          <a:p>
            <a:pPr lvl="1"/>
            <a:r>
              <a:rPr lang="en-GB" dirty="0"/>
              <a:t>Integer types</a:t>
            </a:r>
          </a:p>
          <a:p>
            <a:pPr lvl="1"/>
            <a:r>
              <a:rPr lang="en-GB" dirty="0"/>
              <a:t>Floating-point types</a:t>
            </a:r>
          </a:p>
          <a:p>
            <a:pPr lvl="1"/>
            <a:r>
              <a:rPr lang="en-GB" dirty="0"/>
              <a:t>Other primitive types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variables_and_types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0879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Integer Types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Rust has a wide range of integer types of known size: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i8, i16, i32, i64, i128</a:t>
            </a:r>
          </a:p>
          <a:p>
            <a:pPr lvl="1"/>
            <a:r>
              <a:rPr lang="pl-PL" dirty="0">
                <a:latin typeface="Courier New" panose="02070309020205020404" pitchFamily="49" charset="0"/>
                <a:cs typeface="Courier New" panose="02070309020205020404" pitchFamily="49" charset="0"/>
              </a:rPr>
              <a:t>u8, u16, u32, u64, u128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Rust also has platform-specific integer types: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isize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usize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demo_integers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260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Floating-Point Types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Rust has two floating-point types: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f32, f64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demo_floats()</a:t>
            </a: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268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Primitive Types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Boolean type: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can be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or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-GB" dirty="0">
              <a:latin typeface="+mj-lt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Character type: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holds a Unicode scalar value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demo_other_simple_types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595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Techniques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 facts:</a:t>
            </a:r>
          </a:p>
          <a:p>
            <a:pPr lvl="1"/>
            <a:r>
              <a:rPr lang="en-GB" dirty="0"/>
              <a:t>Rust can infer the data type of a variable, based on initial value</a:t>
            </a:r>
          </a:p>
          <a:p>
            <a:pPr lvl="1"/>
            <a:r>
              <a:rPr lang="en-GB" dirty="0"/>
              <a:t>Variables are immutable, unless qualified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mut</a:t>
            </a:r>
            <a:r>
              <a:rPr lang="en-GB" dirty="0"/>
              <a:t> keyword</a:t>
            </a:r>
          </a:p>
          <a:p>
            <a:pPr lvl="1"/>
            <a:r>
              <a:rPr lang="en-GB" dirty="0"/>
              <a:t>If you don't use a variable, prefix name with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GB" dirty="0"/>
              <a:t> to avoid warnings</a:t>
            </a:r>
          </a:p>
          <a:p>
            <a:pPr lvl="1"/>
            <a:r>
              <a:rPr lang="en-GB" dirty="0"/>
              <a:t>You can cast 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as</a:t>
            </a:r>
            <a:r>
              <a:rPr lang="en-GB" dirty="0"/>
              <a:t> keyword</a:t>
            </a:r>
          </a:p>
          <a:p>
            <a:pPr lvl="1"/>
            <a:r>
              <a:rPr lang="en-GB" dirty="0"/>
              <a:t>Rust enables you to redeclare a variable in the current scope</a:t>
            </a:r>
          </a:p>
          <a:p>
            <a:pPr lvl="1"/>
            <a:r>
              <a:rPr lang="en-GB" dirty="0"/>
              <a:t>You can define compile-time constants via the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GB" dirty="0"/>
              <a:t> keyword</a:t>
            </a:r>
          </a:p>
          <a:p>
            <a:pPr lvl="2"/>
            <a:endParaRPr lang="en-GB" dirty="0"/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demo_techniques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239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2. Flow Control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If-tests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Matching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Loops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Using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sz="2200" dirty="0"/>
              <a:t> and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</p:txBody>
      </p:sp>
    </p:spTree>
    <p:extLst>
      <p:ext uri="{BB962C8B-B14F-4D97-AF65-F5344CB8AC3E}">
        <p14:creationId xmlns:p14="http://schemas.microsoft.com/office/powerpoint/2010/main" val="936539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take a look at flow control in Rust, familiar concepts but with some interesting twists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  <a:p>
            <a:pPr lvl="1"/>
            <a:r>
              <a:rPr lang="en-GB" dirty="0"/>
              <a:t>If-tests</a:t>
            </a:r>
          </a:p>
          <a:p>
            <a:pPr lvl="1"/>
            <a:r>
              <a:rPr lang="en-GB" dirty="0"/>
              <a:t>Matching (similar to </a:t>
            </a:r>
            <a:r>
              <a:rPr lang="en-GB" i="1" dirty="0"/>
              <a:t>switch</a:t>
            </a:r>
            <a:r>
              <a:rPr lang="en-GB" dirty="0"/>
              <a:t> in other languages)</a:t>
            </a:r>
          </a:p>
          <a:p>
            <a:pPr lvl="1"/>
            <a:r>
              <a:rPr lang="en-GB" dirty="0"/>
              <a:t>Loops</a:t>
            </a:r>
          </a:p>
          <a:p>
            <a:pPr lvl="1"/>
            <a:r>
              <a:rPr lang="en-GB" dirty="0"/>
              <a:t>Jumping around a loop 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flow_control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809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If-Tests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If-tests are similar to most other languages, but note the following points: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Test expression must be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No need for </a:t>
            </a:r>
            <a:r>
              <a:rPr lang="en-GB" dirty="0" err="1">
                <a:latin typeface="+mj-lt"/>
                <a:cs typeface="Courier New" panose="02070309020205020404" pitchFamily="49" charset="0"/>
              </a:rPr>
              <a:t>parens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around test expression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Blocks must be enclosed 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You can 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if/else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as an expression, similar to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?: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in C++ etc.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demo_if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10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1587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Matching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GB" dirty="0"/>
              <a:t> is similar to </a:t>
            </a:r>
            <a:r>
              <a:rPr lang="en-GB" i="1" dirty="0"/>
              <a:t>switch</a:t>
            </a:r>
            <a:r>
              <a:rPr lang="en-GB" dirty="0"/>
              <a:t> in other languages, but is much more powerful. You can match on: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Specific values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Ranges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Multiple values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Conditions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demo_match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11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3811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Rust has the following looping constructs: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loop  -</a:t>
            </a:r>
            <a:r>
              <a:rPr lang="en-GB" dirty="0"/>
              <a:t>  infinite loop, similar to for(;;) in other languages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while -</a:t>
            </a:r>
            <a:r>
              <a:rPr lang="en-GB" dirty="0"/>
              <a:t>  loop while a condition is true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for   -</a:t>
            </a:r>
            <a:r>
              <a:rPr lang="en-GB" dirty="0"/>
              <a:t>  loop over a collection</a:t>
            </a:r>
          </a:p>
          <a:p>
            <a:pPr lvl="1"/>
            <a:endParaRPr lang="en-GB" dirty="0"/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demo_loops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12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2469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dirty="0"/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and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are similar to other languages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    -</a:t>
            </a:r>
            <a:r>
              <a:rPr lang="en-GB" dirty="0"/>
              <a:t>  exit a loop immediately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continue -</a:t>
            </a:r>
            <a:r>
              <a:rPr lang="en-GB" dirty="0"/>
              <a:t>  terminate current iteration and start next one</a:t>
            </a:r>
          </a:p>
          <a:p>
            <a:pPr lvl="2"/>
            <a:endParaRPr lang="en-GB" dirty="0"/>
          </a:p>
          <a:p>
            <a:r>
              <a:rPr lang="en-GB" dirty="0"/>
              <a:t>You can break/continue nested loops</a:t>
            </a:r>
          </a:p>
          <a:p>
            <a:pPr lvl="1"/>
            <a:r>
              <a:rPr lang="en-GB" dirty="0"/>
              <a:t>Label a loop, e.g.,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'outer: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loop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Then break/continue via syntax 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'outer;</a:t>
            </a:r>
          </a:p>
          <a:p>
            <a:pPr lvl="2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demo_loops_break_continue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5268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3. Enums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Simple enums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Enums with data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Using the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en-GB" sz="2200" dirty="0"/>
              <a:t> </a:t>
            </a:r>
            <a:r>
              <a:rPr lang="en-GB" sz="2200" dirty="0" err="1"/>
              <a:t>enum</a:t>
            </a:r>
            <a:endParaRPr lang="en-GB" sz="2200" dirty="0"/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Using the </a:t>
            </a:r>
            <a:r>
              <a:rPr lang="en-GB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GB" sz="2200" dirty="0"/>
              <a:t> </a:t>
            </a:r>
            <a:r>
              <a:rPr lang="en-GB" sz="2200" dirty="0" err="1"/>
              <a:t>enum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553155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147378" y="814771"/>
            <a:ext cx="7803581" cy="3547021"/>
          </a:xfrm>
        </p:spPr>
        <p:txBody>
          <a:bodyPr/>
          <a:lstStyle/>
          <a:p>
            <a:r>
              <a:rPr lang="en-GB" dirty="0"/>
              <a:t>An </a:t>
            </a:r>
            <a:r>
              <a:rPr lang="en-GB" dirty="0" err="1"/>
              <a:t>enum</a:t>
            </a:r>
            <a:r>
              <a:rPr lang="en-GB" dirty="0"/>
              <a:t> is a type with a closed set of allowed values</a:t>
            </a:r>
          </a:p>
          <a:p>
            <a:pPr lvl="1"/>
            <a:r>
              <a:rPr lang="en-GB" dirty="0"/>
              <a:t>E.g. a "Flight" </a:t>
            </a:r>
            <a:r>
              <a:rPr lang="en-GB" dirty="0" err="1"/>
              <a:t>enum</a:t>
            </a:r>
            <a:r>
              <a:rPr lang="en-GB" dirty="0"/>
              <a:t> might allow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Economy,Business,First</a:t>
            </a:r>
            <a:endParaRPr lang="en-GB" dirty="0"/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Enums are extremely important and widely used in Rust</a:t>
            </a:r>
          </a:p>
          <a:p>
            <a:pPr lvl="1"/>
            <a:r>
              <a:rPr lang="en-GB" dirty="0"/>
              <a:t>Both in the Rust library, and in the code that we write ourselves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enums/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15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0699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Enums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You can define a simple </a:t>
            </a:r>
            <a:r>
              <a:rPr lang="en-GB" dirty="0" err="1"/>
              <a:t>enum</a:t>
            </a:r>
            <a:r>
              <a:rPr lang="en-GB" dirty="0"/>
              <a:t> type as follows: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Specify the </a:t>
            </a:r>
            <a:r>
              <a:rPr lang="en-GB" dirty="0" err="1">
                <a:latin typeface="+mj-lt"/>
                <a:cs typeface="Courier New" panose="02070309020205020404" pitchFamily="49" charset="0"/>
              </a:rPr>
              <a:t>enum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type, starting with a capital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Specify allowed values ("variants"), also starting with capitals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your code, you typically 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match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to test for variants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Use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 to qualify the variant names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demo_simple_enums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0911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Enums with Data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Enum variants can hold data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A useful way to piggy-bank useful info with a variant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When you use an </a:t>
            </a:r>
            <a:r>
              <a:rPr lang="en-GB" dirty="0" err="1">
                <a:latin typeface="+mj-lt"/>
                <a:cs typeface="Courier New" panose="02070309020205020404" pitchFamily="49" charset="0"/>
              </a:rPr>
              <a:t>enum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-with-data in your code: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It will be big enough to hold the largest variant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demo_enum_with_data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GB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0195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Option</a:t>
            </a:r>
            <a:r>
              <a:rPr lang="en-GB" dirty="0"/>
              <a:t> Enum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Option&lt;T&gt;</a:t>
            </a:r>
            <a:r>
              <a:rPr lang="en-GB" dirty="0"/>
              <a:t> is a standard </a:t>
            </a:r>
            <a:r>
              <a:rPr lang="en-GB" dirty="0" err="1"/>
              <a:t>enum</a:t>
            </a:r>
            <a:r>
              <a:rPr lang="en-GB" dirty="0"/>
              <a:t> with 2 possible variants: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Some(T) -</a:t>
            </a:r>
            <a:r>
              <a:rPr lang="en-GB" dirty="0"/>
              <a:t>  a value of type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None    -</a:t>
            </a:r>
            <a:r>
              <a:rPr lang="en-GB" dirty="0"/>
              <a:t>  the absence of a value</a:t>
            </a:r>
          </a:p>
          <a:p>
            <a:pPr lvl="1"/>
            <a:endParaRPr lang="en-GB" dirty="0"/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demo_using_option_enum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18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923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en-GB" dirty="0"/>
              <a:t> Enum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Result&lt;T,E&gt;</a:t>
            </a:r>
            <a:r>
              <a:rPr lang="en-GB" dirty="0"/>
              <a:t> is a standard </a:t>
            </a:r>
            <a:r>
              <a:rPr lang="en-GB" dirty="0" err="1"/>
              <a:t>enum</a:t>
            </a:r>
            <a:r>
              <a:rPr lang="en-GB" dirty="0"/>
              <a:t> with 2 possible variants: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Ok(T) -</a:t>
            </a:r>
            <a:r>
              <a:rPr lang="en-GB" dirty="0"/>
              <a:t>  indicates successful outcome with a value of type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Err(E)-</a:t>
            </a:r>
            <a:r>
              <a:rPr lang="en-GB" dirty="0"/>
              <a:t>  indicates error outcome with an error of type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</a:p>
          <a:p>
            <a:pPr lvl="1"/>
            <a:endParaRPr lang="en-GB" dirty="0"/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demo_using_result_enum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19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9521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4. Compound Types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Simple arrays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Array techniques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Tuples</a:t>
            </a:r>
          </a:p>
        </p:txBody>
      </p:sp>
    </p:spTree>
    <p:extLst>
      <p:ext uri="{BB962C8B-B14F-4D97-AF65-F5344CB8AC3E}">
        <p14:creationId xmlns:p14="http://schemas.microsoft.com/office/powerpoint/2010/main" val="1719270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take a look at 2 standard compound types in Rust, which hold multiple values:</a:t>
            </a:r>
          </a:p>
          <a:p>
            <a:pPr lvl="1"/>
            <a:r>
              <a:rPr lang="en-GB" dirty="0"/>
              <a:t>Arrays</a:t>
            </a:r>
          </a:p>
          <a:p>
            <a:pPr lvl="1"/>
            <a:r>
              <a:rPr lang="en-GB" dirty="0"/>
              <a:t>Tuples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compound_types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21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9039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Arrays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/>
              <a:t>An array is a fixed-size homogeneous collection</a:t>
            </a:r>
          </a:p>
          <a:p>
            <a:pPr lvl="1"/>
            <a:r>
              <a:rPr lang="en-GB" dirty="0"/>
              <a:t>You can create an array using simple literal syntax,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a,b,c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,…]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Use zero-based indexing to access values,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[index]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Rust does bounds-checking at compile-time and run-time</a:t>
            </a: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demo_arrays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demo_arrays_bound_checking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22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9766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Techniques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specify type info and size for an array</a:t>
            </a:r>
          </a:p>
          <a:p>
            <a:pPr lvl="1"/>
            <a:r>
              <a:rPr lang="en-GB" dirty="0"/>
              <a:t>Useful when you want to assign element values later-on</a:t>
            </a:r>
          </a:p>
          <a:p>
            <a:pPr lvl="2"/>
            <a:endParaRPr lang="en-GB" dirty="0"/>
          </a:p>
          <a:p>
            <a:r>
              <a:rPr lang="en-GB" dirty="0"/>
              <a:t>You can also fill an array with a specified value</a:t>
            </a:r>
          </a:p>
          <a:p>
            <a:pPr lvl="1"/>
            <a:r>
              <a:rPr lang="en-GB" dirty="0"/>
              <a:t>Useful for bulk-loading a value into all elements</a:t>
            </a:r>
          </a:p>
          <a:p>
            <a:pPr lvl="2"/>
            <a:endParaRPr lang="en-GB" dirty="0"/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demo_arrays_techniques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23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6A8CF4-1DBC-FC5E-AFD0-712EA69ECB09}"/>
              </a:ext>
            </a:extLst>
          </p:cNvPr>
          <p:cNvSpPr txBox="1"/>
          <p:nvPr/>
        </p:nvSpPr>
        <p:spPr>
          <a:xfrm>
            <a:off x="1465042" y="3984649"/>
            <a:ext cx="72154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1580A4"/>
                </a:solidFill>
                <a:latin typeface="+mj-lt"/>
                <a:cs typeface="Courier New" panose="02070309020205020404" pitchFamily="49" charset="0"/>
              </a:rPr>
              <a:t>Aside: For info about </a:t>
            </a:r>
            <a:r>
              <a:rPr lang="en-GB" dirty="0">
                <a:solidFill>
                  <a:srgbClr val="1580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{:?}</a:t>
            </a:r>
            <a:r>
              <a:rPr lang="en-GB" dirty="0">
                <a:solidFill>
                  <a:srgbClr val="1580A4"/>
                </a:solidFill>
                <a:latin typeface="+mj-lt"/>
                <a:cs typeface="Courier New" panose="02070309020205020404" pitchFamily="49" charset="0"/>
              </a:rPr>
              <a:t> debug output, see:</a:t>
            </a:r>
          </a:p>
          <a:p>
            <a:r>
              <a:rPr lang="en-GB" b="1" dirty="0">
                <a:solidFill>
                  <a:srgbClr val="1580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https://doc.rust-lang.org/std/fmt/trait.Debug</a:t>
            </a:r>
            <a:r>
              <a:rPr lang="en-GB" b="1">
                <a:solidFill>
                  <a:srgbClr val="1580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  <a:r>
              <a:rPr lang="en-GB" b="1" dirty="0">
                <a:solidFill>
                  <a:srgbClr val="1580A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GB" dirty="0">
              <a:solidFill>
                <a:srgbClr val="1580A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55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tuple is a fixed-size heterogeneous collection</a:t>
            </a:r>
          </a:p>
          <a:p>
            <a:pPr lvl="1"/>
            <a:r>
              <a:rPr lang="en-GB" dirty="0"/>
              <a:t>You can create a tuple using simple literal syntax,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a,b,c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,…)</a:t>
            </a:r>
          </a:p>
          <a:p>
            <a:pPr lvl="1"/>
            <a:r>
              <a:rPr lang="en-GB" dirty="0"/>
              <a:t>Use zero-based property names to access values,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tup.0</a:t>
            </a:r>
          </a:p>
          <a:p>
            <a:pPr lvl="1"/>
            <a:r>
              <a:rPr lang="en-GB" dirty="0"/>
              <a:t>Rust checks property names at compile-time</a:t>
            </a:r>
          </a:p>
          <a:p>
            <a:pPr lvl="2"/>
            <a:endParaRPr lang="en-GB" dirty="0"/>
          </a:p>
          <a:p>
            <a:r>
              <a:rPr lang="en-GB" dirty="0"/>
              <a:t>Common use for a tuple:</a:t>
            </a:r>
          </a:p>
          <a:p>
            <a:pPr lvl="1"/>
            <a:r>
              <a:rPr lang="en-GB" dirty="0"/>
              <a:t>To return multiple values from a function</a:t>
            </a:r>
          </a:p>
          <a:p>
            <a:pPr lvl="2"/>
            <a:endParaRPr lang="en-GB" dirty="0"/>
          </a:p>
          <a:p>
            <a:r>
              <a:rPr lang="en-GB" dirty="0"/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/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demo_tuples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24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2625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5. Collection Classes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AD8C79-36E9-4E8D-A975-AF8D5152A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Overview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Vectors</a:t>
            </a:r>
          </a:p>
          <a:p>
            <a:pPr marL="446088" indent="-390525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Hash maps</a:t>
            </a:r>
          </a:p>
        </p:txBody>
      </p:sp>
    </p:spTree>
    <p:extLst>
      <p:ext uri="{BB962C8B-B14F-4D97-AF65-F5344CB8AC3E}">
        <p14:creationId xmlns:p14="http://schemas.microsoft.com/office/powerpoint/2010/main" val="29860048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55563">
              <a:tabLst>
                <a:tab pos="446088" algn="l"/>
              </a:tabLst>
            </a:pPr>
            <a:r>
              <a:rPr lang="en-GB" sz="3600" dirty="0"/>
              <a:t>Overview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section we'll take a look at 2 standard collection classes in Rust, which are very widely used:</a:t>
            </a:r>
          </a:p>
          <a:p>
            <a:pPr lvl="1"/>
            <a:r>
              <a:rPr lang="en-GB" dirty="0"/>
              <a:t>Vectors</a:t>
            </a:r>
          </a:p>
          <a:p>
            <a:pPr lvl="1"/>
            <a:r>
              <a:rPr lang="en-GB" dirty="0"/>
              <a:t>Hash maps</a:t>
            </a:r>
          </a:p>
          <a:p>
            <a:pPr lvl="1"/>
            <a:endParaRPr lang="en-GB" dirty="0"/>
          </a:p>
          <a:p>
            <a:r>
              <a:rPr lang="en-GB" dirty="0"/>
              <a:t>See this project folder: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collections/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90DF0-56F5-4575-92B8-F4404AF7EE96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26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2981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1147379" y="814771"/>
            <a:ext cx="7753860" cy="3547021"/>
          </a:xfrm>
        </p:spPr>
        <p:txBody>
          <a:bodyPr/>
          <a:lstStyle/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&lt;T&gt;</a:t>
            </a:r>
            <a:r>
              <a:rPr lang="en-GB" dirty="0"/>
              <a:t> is a generic, sequential, resizable collection</a:t>
            </a:r>
          </a:p>
          <a:p>
            <a:pPr lvl="1"/>
            <a:r>
              <a:rPr lang="en-GB" dirty="0"/>
              <a:t>Elements are accessed via zero-based index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Supports bounds-checking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these demo functions: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demo_vec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demo_vec_bounds_checking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27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732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 Maps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HashMap&lt;K,V&gt;</a:t>
            </a:r>
            <a:r>
              <a:rPr lang="en-GB" dirty="0"/>
              <a:t> is a generic dictionary</a:t>
            </a:r>
          </a:p>
          <a:p>
            <a:pPr lvl="1"/>
            <a:r>
              <a:rPr lang="en-GB" dirty="0"/>
              <a:t>Each entry is a key/value pair</a:t>
            </a:r>
          </a:p>
          <a:p>
            <a:pPr lvl="1"/>
            <a:r>
              <a:rPr lang="en-GB" dirty="0">
                <a:latin typeface="+mj-lt"/>
                <a:cs typeface="Courier New" panose="02070309020205020404" pitchFamily="49" charset="0"/>
              </a:rPr>
              <a:t>You can lookup keys efficiently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GB" dirty="0">
              <a:latin typeface="+mj-lt"/>
              <a:cs typeface="Courier New" panose="02070309020205020404" pitchFamily="49" charset="0"/>
            </a:endParaRPr>
          </a:p>
          <a:p>
            <a:r>
              <a:rPr lang="en-GB" dirty="0">
                <a:latin typeface="+mj-lt"/>
                <a:cs typeface="Courier New" panose="02070309020205020404" pitchFamily="49" charset="0"/>
              </a:rPr>
              <a:t>In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main.rs</a:t>
            </a:r>
            <a:r>
              <a:rPr lang="en-GB" dirty="0">
                <a:latin typeface="+mj-lt"/>
                <a:cs typeface="Courier New" panose="02070309020205020404" pitchFamily="49" charset="0"/>
              </a:rPr>
              <a:t>, see this demo function: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demo_hash_map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00BBD0D-3E35-4F33-B681-AA2CC230399E}"/>
              </a:ext>
            </a:extLst>
          </p:cNvPr>
          <p:cNvSpPr txBox="1">
            <a:spLocks/>
          </p:cNvSpPr>
          <p:nvPr/>
        </p:nvSpPr>
        <p:spPr bwMode="auto">
          <a:xfrm>
            <a:off x="8576156" y="4630835"/>
            <a:ext cx="52050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marL="0" algn="ctr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fld id="{20D3A3B2-EA16-4B4A-AE9A-D51E3039C102}" type="slidenum">
              <a:rPr lang="en-GB" smtClean="0">
                <a:solidFill>
                  <a:srgbClr val="1F497D"/>
                </a:solidFill>
                <a:latin typeface="Calibri"/>
              </a:rPr>
              <a:pPr>
                <a:defRPr/>
              </a:pPr>
              <a:t>28</a:t>
            </a:fld>
            <a:endParaRPr lang="en-GB" dirty="0">
              <a:solidFill>
                <a:srgbClr val="1F497D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9427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8809" y="184354"/>
            <a:ext cx="5289902" cy="93187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8FE4899-46EA-4D85-B506-C96950130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8810" y="982981"/>
            <a:ext cx="5289902" cy="3351559"/>
          </a:xfrm>
        </p:spPr>
        <p:txBody>
          <a:bodyPr>
            <a:normAutofit/>
          </a:bodyPr>
          <a:lstStyle/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Variables and types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Flow control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Enums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Compound types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r>
              <a:rPr lang="en-GB" sz="2200" dirty="0"/>
              <a:t>Collection classes</a:t>
            </a:r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/>
          </a:p>
          <a:p>
            <a:pPr marL="449263" indent="-393700">
              <a:buFont typeface="Arial" panose="020B0604020202020204" pitchFamily="34" charset="0"/>
              <a:buChar char="•"/>
              <a:tabLst>
                <a:tab pos="446088" algn="l"/>
              </a:tabLst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4185660244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_LiveLessons_201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dard_LiveLessons_2016.potm" id="{8C1633E9-E98A-446F-92F4-E3D84D4249FA}" vid="{A44C486B-6B48-42BE-B4AA-FE194AC140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Standard_LiveLessons_2017.potm</Template>
  <TotalTime>1758</TotalTime>
  <Words>1283</Words>
  <Application>Microsoft Office PowerPoint</Application>
  <PresentationFormat>On-screen Show (16:9)</PresentationFormat>
  <Paragraphs>254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Wingdings</vt:lpstr>
      <vt:lpstr>Standard_LiveLessons_2017</vt:lpstr>
      <vt:lpstr>Language Essentials</vt:lpstr>
      <vt:lpstr>1. Variables and Types</vt:lpstr>
      <vt:lpstr>Overview</vt:lpstr>
      <vt:lpstr>Integer Types</vt:lpstr>
      <vt:lpstr>Floating-Point Types</vt:lpstr>
      <vt:lpstr>Other Primitive Types</vt:lpstr>
      <vt:lpstr>Techniques</vt:lpstr>
      <vt:lpstr>2. Flow Control</vt:lpstr>
      <vt:lpstr>Overview</vt:lpstr>
      <vt:lpstr>If-Tests</vt:lpstr>
      <vt:lpstr>Matching</vt:lpstr>
      <vt:lpstr>Loops</vt:lpstr>
      <vt:lpstr>Using break and continue</vt:lpstr>
      <vt:lpstr>3. Enums</vt:lpstr>
      <vt:lpstr>Overview</vt:lpstr>
      <vt:lpstr>Simple Enums</vt:lpstr>
      <vt:lpstr>Enums with Data</vt:lpstr>
      <vt:lpstr>Using the Option Enum</vt:lpstr>
      <vt:lpstr>Using the Result Enum</vt:lpstr>
      <vt:lpstr>4. Compound Types</vt:lpstr>
      <vt:lpstr>Overview</vt:lpstr>
      <vt:lpstr>Simple Arrays</vt:lpstr>
      <vt:lpstr>Array Techniques</vt:lpstr>
      <vt:lpstr>Tuples</vt:lpstr>
      <vt:lpstr>5. Collection Classes</vt:lpstr>
      <vt:lpstr>Overview</vt:lpstr>
      <vt:lpstr>Vectors</vt:lpstr>
      <vt:lpstr>Hash Maps</vt:lpstr>
      <vt:lpstr>Summary</vt:lpstr>
    </vt:vector>
  </TitlesOfParts>
  <Company>Pearson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Julie Phifer</dc:creator>
  <cp:lastModifiedBy>Andy Olsen</cp:lastModifiedBy>
  <cp:revision>117</cp:revision>
  <dcterms:created xsi:type="dcterms:W3CDTF">2015-09-28T19:52:00Z</dcterms:created>
  <dcterms:modified xsi:type="dcterms:W3CDTF">2025-01-10T15:24:16Z</dcterms:modified>
</cp:coreProperties>
</file>