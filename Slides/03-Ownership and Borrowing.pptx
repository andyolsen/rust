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7" r:id="rId2"/>
    <p:sldId id="710" r:id="rId3"/>
    <p:sldId id="532" r:id="rId4"/>
    <p:sldId id="629" r:id="rId5"/>
    <p:sldId id="719" r:id="rId6"/>
    <p:sldId id="726" r:id="rId7"/>
    <p:sldId id="727" r:id="rId8"/>
    <p:sldId id="728" r:id="rId9"/>
    <p:sldId id="729" r:id="rId10"/>
    <p:sldId id="730" r:id="rId11"/>
    <p:sldId id="731" r:id="rId12"/>
    <p:sldId id="740" r:id="rId13"/>
    <p:sldId id="741" r:id="rId14"/>
    <p:sldId id="742" r:id="rId15"/>
    <p:sldId id="751" r:id="rId16"/>
    <p:sldId id="752" r:id="rId17"/>
    <p:sldId id="734" r:id="rId18"/>
    <p:sldId id="753" r:id="rId19"/>
    <p:sldId id="754" r:id="rId20"/>
    <p:sldId id="755" r:id="rId21"/>
    <p:sldId id="756" r:id="rId22"/>
    <p:sldId id="746" r:id="rId23"/>
    <p:sldId id="747" r:id="rId24"/>
    <p:sldId id="748" r:id="rId25"/>
    <p:sldId id="750" r:id="rId26"/>
    <p:sldId id="711" r:id="rId2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FF"/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50" autoAdjust="0"/>
    <p:restoredTop sz="96725" autoAdjust="0"/>
  </p:normalViewPr>
  <p:slideViewPr>
    <p:cSldViewPr snapToGrid="0" snapToObjects="1">
      <p:cViewPr varScale="1">
        <p:scale>
          <a:sx n="137" d="100"/>
          <a:sy n="137" d="100"/>
        </p:scale>
        <p:origin x="57" y="201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10" d="100"/>
        <a:sy n="110" d="100"/>
      </p:scale>
      <p:origin x="0" y="-534"/>
    </p:cViewPr>
  </p:sorterViewPr>
  <p:notesViewPr>
    <p:cSldViewPr snapToGrid="0" snapToObjects="1">
      <p:cViewPr varScale="1">
        <p:scale>
          <a:sx n="84" d="100"/>
          <a:sy n="84" d="100"/>
        </p:scale>
        <p:origin x="2637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DEBBD1-6077-4938-811F-54E4AC433829}" type="datetimeFigureOut">
              <a:rPr lang="en-GB" smtClean="0"/>
              <a:t>13/12/2022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E77016-B761-47E8-ADDA-7F73F02D164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4563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58603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6668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0211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2473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8616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25801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5657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7820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449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20592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7556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688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8191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5311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12263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8729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9925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057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5969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47045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6710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2277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1338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8228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5E3EC92-0BF8-B04C-BDA1-D36DC16EC2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11061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836832" y="1597819"/>
            <a:ext cx="4975394" cy="1102519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600" b="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Lesson #: Lesson Name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836831" y="2788538"/>
            <a:ext cx="4975395" cy="1314450"/>
          </a:xfrm>
        </p:spPr>
        <p:txBody>
          <a:bodyPr>
            <a:normAutofit/>
          </a:bodyPr>
          <a:lstStyle>
            <a:lvl1pPr marL="685800" indent="-630936" algn="l">
              <a:buNone/>
              <a:tabLst>
                <a:tab pos="574675" algn="l"/>
              </a:tabLst>
              <a:defRPr sz="2800" b="0" baseline="0">
                <a:solidFill>
                  <a:srgbClr val="00000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#.# 	Learning objective or      Sub-lesson Title</a:t>
            </a:r>
          </a:p>
        </p:txBody>
      </p:sp>
    </p:spTree>
    <p:extLst>
      <p:ext uri="{BB962C8B-B14F-4D97-AF65-F5344CB8AC3E}">
        <p14:creationId xmlns:p14="http://schemas.microsoft.com/office/powerpoint/2010/main" val="3128257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3823434-19E5-7244-957A-48409271A8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8620" y="-78830"/>
            <a:ext cx="7548179" cy="560552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7379" y="814771"/>
            <a:ext cx="6839712" cy="3547021"/>
          </a:xfrm>
        </p:spPr>
        <p:txBody>
          <a:bodyPr>
            <a:noAutofit/>
          </a:bodyPr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42777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70CCCA5-FF07-3E49-BCA2-619E38AACD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-78831"/>
            <a:ext cx="7552944" cy="557784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46140"/>
            <a:ext cx="4038600" cy="3394472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7344" y="946356"/>
            <a:ext cx="4038600" cy="3394472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039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Images or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A56CC22-FD07-7A4D-847A-EADD8CC518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-78830"/>
            <a:ext cx="7556938" cy="557784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147379" y="814771"/>
            <a:ext cx="7539420" cy="3547021"/>
          </a:xfrm>
        </p:spPr>
        <p:txBody>
          <a:bodyPr>
            <a:noAutofit/>
          </a:bodyPr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06183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ontent_No Gray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161795-AF74-6141-B77F-64153FAB4A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4371" y="-78830"/>
            <a:ext cx="7548179" cy="560552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1147379" y="814771"/>
            <a:ext cx="7539420" cy="3547021"/>
          </a:xfrm>
        </p:spPr>
        <p:txBody>
          <a:bodyPr>
            <a:noAutofit/>
          </a:bodyPr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48318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ontent_No Bottom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00254D4-82EE-7743-8DC5-A96F5C67993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144371" y="-78830"/>
            <a:ext cx="7548179" cy="560552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7379" y="814771"/>
            <a:ext cx="7539420" cy="3547021"/>
          </a:xfrm>
        </p:spPr>
        <p:txBody>
          <a:bodyPr>
            <a:noAutofit/>
          </a:bodyPr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151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9A03A33-EFE2-8C43-836B-41753232C6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805778" y="1"/>
            <a:ext cx="7548179" cy="560552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814537" y="814771"/>
            <a:ext cx="7539420" cy="3547021"/>
          </a:xfrm>
        </p:spPr>
        <p:txBody>
          <a:bodyPr>
            <a:noAutofit/>
          </a:bodyPr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46337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alphaModFix amt="0"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8B0A6C-EF38-9441-ADBF-8FE45FA6C46E}" type="datetimeFigureOut">
              <a:rPr lang="en-US" smtClean="0"/>
              <a:t>12/13/2022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032D76-6BE4-154B-A130-37D069E4235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1"/>
          <p:cNvSpPr txBox="1">
            <a:spLocks/>
          </p:cNvSpPr>
          <p:nvPr userDrawn="1"/>
        </p:nvSpPr>
        <p:spPr>
          <a:xfrm>
            <a:off x="457200" y="210636"/>
            <a:ext cx="8229600" cy="560552"/>
          </a:xfrm>
          <a:prstGeom prst="rect">
            <a:avLst/>
          </a:prstGeom>
        </p:spPr>
        <p:txBody>
          <a:bodyPr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tx1"/>
                </a:solidFill>
              </a:rPr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37476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6" r:id="rId5"/>
    <p:sldLayoutId id="2147483657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stable/std/string/struct.String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8809" y="184354"/>
            <a:ext cx="5289902" cy="931873"/>
          </a:xfrm>
        </p:spPr>
        <p:txBody>
          <a:bodyPr/>
          <a:lstStyle/>
          <a:p>
            <a:r>
              <a:rPr lang="en-US" sz="3400" dirty="0">
                <a:solidFill>
                  <a:schemeClr val="bg1"/>
                </a:solidFill>
              </a:rPr>
              <a:t>Ownership and Borrowing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58FE4899-46EA-4D85-B506-C969501309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8810" y="982981"/>
            <a:ext cx="5289902" cy="3351559"/>
          </a:xfrm>
        </p:spPr>
        <p:txBody>
          <a:bodyPr>
            <a:normAutofit/>
          </a:bodyPr>
          <a:lstStyle/>
          <a:p>
            <a:pPr marL="449263" indent="-393700">
              <a:buFont typeface="+mj-lt"/>
              <a:buAutoNum type="arabicPeriod"/>
              <a:tabLst>
                <a:tab pos="268288" algn="l"/>
              </a:tabLst>
            </a:pPr>
            <a:r>
              <a:rPr lang="en-GB" sz="2200" dirty="0"/>
              <a:t>Simple ownership</a:t>
            </a:r>
          </a:p>
          <a:p>
            <a:pPr marL="449263" indent="-393700">
              <a:buFont typeface="+mj-lt"/>
              <a:buAutoNum type="arabicPeriod"/>
              <a:tabLst>
                <a:tab pos="268288" algn="l"/>
              </a:tabLst>
            </a:pPr>
            <a:r>
              <a:rPr lang="en-GB" sz="2200" dirty="0"/>
              <a:t>Borrowing</a:t>
            </a:r>
          </a:p>
          <a:p>
            <a:pPr marL="449263" indent="-393700">
              <a:buFont typeface="+mj-lt"/>
              <a:buAutoNum type="arabicPeriod"/>
              <a:tabLst>
                <a:tab pos="268288" algn="l"/>
              </a:tabLst>
            </a:pPr>
            <a:r>
              <a:rPr lang="en-GB" sz="2200" dirty="0"/>
              <a:t>Function parameters</a:t>
            </a:r>
          </a:p>
          <a:p>
            <a:pPr marL="449263" indent="-393700">
              <a:buFont typeface="+mj-lt"/>
              <a:buAutoNum type="arabicPeriod"/>
              <a:tabLst>
                <a:tab pos="268288" algn="l"/>
              </a:tabLst>
            </a:pPr>
            <a:r>
              <a:rPr lang="en-GB" sz="2200" dirty="0"/>
              <a:t>Function returns</a:t>
            </a:r>
          </a:p>
          <a:p>
            <a:pPr marL="449263" indent="-393700">
              <a:buFont typeface="+mj-lt"/>
              <a:buAutoNum type="arabicPeriod"/>
              <a:tabLst>
                <a:tab pos="268288" algn="l"/>
              </a:tabLst>
            </a:pPr>
            <a:r>
              <a:rPr lang="en-GB" sz="2200" dirty="0"/>
              <a:t>Nested functions and closures</a:t>
            </a:r>
          </a:p>
          <a:p>
            <a:pPr marL="569913" indent="-514350">
              <a:buFont typeface="+mj-lt"/>
              <a:buAutoNum type="arabicPeriod"/>
              <a:tabLst>
                <a:tab pos="268288" algn="l"/>
              </a:tabLst>
            </a:pPr>
            <a:endParaRPr lang="en-GB" sz="2200" dirty="0"/>
          </a:p>
          <a:p>
            <a:pPr marL="569913" indent="-514350">
              <a:buFont typeface="+mj-lt"/>
              <a:buAutoNum type="arabicPeriod"/>
              <a:tabLst>
                <a:tab pos="268288" algn="l"/>
              </a:tabLst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005480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8809" y="184354"/>
            <a:ext cx="5289902" cy="93187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1. Simple Ownership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CAD8C79-36E9-4E8D-A975-AF8D5152AA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8810" y="982981"/>
            <a:ext cx="5289902" cy="3351559"/>
          </a:xfrm>
        </p:spPr>
        <p:txBody>
          <a:bodyPr>
            <a:normAutofit/>
          </a:bodyPr>
          <a:lstStyle/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Overview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Scope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Understanding the </a:t>
            </a:r>
            <a:r>
              <a:rPr lang="en-GB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GB" sz="2200" dirty="0"/>
              <a:t> type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Copying vs. moving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Cloning</a:t>
            </a:r>
          </a:p>
        </p:txBody>
      </p:sp>
    </p:spTree>
    <p:extLst>
      <p:ext uri="{BB962C8B-B14F-4D97-AF65-F5344CB8AC3E}">
        <p14:creationId xmlns:p14="http://schemas.microsoft.com/office/powerpoint/2010/main" val="4013197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marL="55563">
              <a:tabLst>
                <a:tab pos="446088" algn="l"/>
              </a:tabLst>
            </a:pPr>
            <a:r>
              <a:rPr lang="en-GB" sz="3600" dirty="0"/>
              <a:t>Overview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idx="1"/>
          </p:nvPr>
        </p:nvSpPr>
        <p:spPr>
          <a:xfrm>
            <a:off x="1147379" y="814771"/>
            <a:ext cx="7867148" cy="3547021"/>
          </a:xfrm>
        </p:spPr>
        <p:txBody>
          <a:bodyPr/>
          <a:lstStyle/>
          <a:p>
            <a:r>
              <a:rPr lang="en-GB" dirty="0"/>
              <a:t>Ownership/borrowing is a critical language feature in Rust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The compiler ensures a value is only owned by a </a:t>
            </a:r>
            <a:r>
              <a:rPr lang="en-GB" b="1" dirty="0">
                <a:latin typeface="+mj-lt"/>
                <a:cs typeface="Courier New" panose="02070309020205020404" pitchFamily="49" charset="0"/>
              </a:rPr>
              <a:t>single variable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This enables Rust to deterministically deallocate objects for you</a:t>
            </a:r>
          </a:p>
          <a:p>
            <a:pPr lvl="2"/>
            <a:endParaRPr lang="en-GB" dirty="0">
              <a:latin typeface="+mj-lt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For example: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If func1() passes a string into func2()…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Then func1() loses ownership of the string and can't use it anymore</a:t>
            </a:r>
          </a:p>
          <a:p>
            <a:pPr lvl="2"/>
            <a:endParaRPr lang="en-GB" dirty="0">
              <a:latin typeface="+mj-lt"/>
              <a:cs typeface="Courier New" panose="02070309020205020404" pitchFamily="49" charset="0"/>
            </a:endParaRPr>
          </a:p>
          <a:p>
            <a:r>
              <a:rPr lang="en-GB" dirty="0"/>
              <a:t>See this project folder: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simple_ownership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lvl="1"/>
            <a:endParaRPr lang="en-GB" dirty="0">
              <a:latin typeface="+mj-lt"/>
              <a:cs typeface="Courier New" panose="02070309020205020404" pitchFamily="49" charset="0"/>
            </a:endParaRPr>
          </a:p>
          <a:p>
            <a:pPr lvl="1"/>
            <a:endParaRPr lang="en-GB" dirty="0">
              <a:latin typeface="+mj-lt"/>
              <a:cs typeface="Courier New" panose="02070309020205020404" pitchFamily="49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790DF0-56F5-4575-92B8-F4404AF7EE96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3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60879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Rust supports scope in the same way as most languages: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Block scope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Function scope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Static scope</a:t>
            </a:r>
          </a:p>
          <a:p>
            <a:pPr lvl="1"/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You can only use a variable within its scope, and objects are dropped deterministically when they go out of scope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In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main.rs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, see this demo function: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demo_scope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dirty="0">
              <a:latin typeface="+mj-lt"/>
              <a:cs typeface="Courier New" panose="02070309020205020404" pitchFamily="49" charset="0"/>
            </a:endParaRP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00BBD0D-3E35-4F33-B681-AA2CC230399E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4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72607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Understanding the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GB" dirty="0"/>
              <a:t> Type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GB" dirty="0"/>
              <a:t> is a standard struct type in Rust</a:t>
            </a:r>
          </a:p>
          <a:p>
            <a:pPr lvl="1"/>
            <a:r>
              <a:rPr lang="en-GB" dirty="0"/>
              <a:t>Can be mutable, resizable, etc… For details, see:</a:t>
            </a:r>
            <a:br>
              <a:rPr lang="en-GB" dirty="0"/>
            </a:br>
            <a:r>
              <a:rPr lang="en-GB" dirty="0">
                <a:hlinkClick r:id="rId3"/>
              </a:rPr>
              <a:t>https://doc.rust-lang.org/stable/std/string/struct.String.html</a:t>
            </a:r>
            <a:r>
              <a:rPr lang="en-GB" dirty="0"/>
              <a:t> </a:t>
            </a:r>
          </a:p>
          <a:p>
            <a:pPr lvl="2"/>
            <a:endParaRPr lang="en-GB" dirty="0">
              <a:latin typeface="+mj-lt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When you create a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 object: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The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 object itself lives on the stack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Memory for the text is allocated dynamically on the heap</a:t>
            </a:r>
          </a:p>
          <a:p>
            <a:pPr lvl="1"/>
            <a:endParaRPr lang="en-GB" dirty="0">
              <a:latin typeface="+mj-lt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In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main.rs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, see this demo function: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demo_string_type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endParaRPr lang="en-GB" dirty="0">
              <a:latin typeface="+mj-lt"/>
              <a:cs typeface="Courier New" panose="02070309020205020404" pitchFamily="49" charset="0"/>
            </a:endParaRP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00BBD0D-3E35-4F33-B681-AA2CC230399E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5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7268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Copying vs. Moving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>
          <a:xfrm>
            <a:off x="1147379" y="814771"/>
            <a:ext cx="7794320" cy="3547021"/>
          </a:xfrm>
        </p:spPr>
        <p:txBody>
          <a:bodyPr/>
          <a:lstStyle/>
          <a:p>
            <a:r>
              <a:rPr lang="en-GB" dirty="0"/>
              <a:t>What happens when you assign one variable to another…?</a:t>
            </a:r>
          </a:p>
          <a:p>
            <a:pPr lvl="2"/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/>
              <a:t>For types that implement the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GB" dirty="0"/>
              <a:t> trait (e.g.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GB" dirty="0"/>
              <a:t>):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The value is copied (similar to a mem-copy)</a:t>
            </a:r>
          </a:p>
          <a:p>
            <a:pPr lvl="2"/>
            <a:endParaRPr lang="en-GB" dirty="0">
              <a:latin typeface="+mj-lt"/>
              <a:cs typeface="Courier New" panose="02070309020205020404" pitchFamily="49" charset="0"/>
            </a:endParaRPr>
          </a:p>
          <a:p>
            <a:r>
              <a:rPr lang="en-GB" dirty="0"/>
              <a:t>For types that don't implement the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GB" dirty="0"/>
              <a:t> trait (e.g.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GB" dirty="0"/>
              <a:t>):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Ownership is transferred to the other variable</a:t>
            </a:r>
          </a:p>
          <a:p>
            <a:pPr lvl="2"/>
            <a:endParaRPr lang="en-GB" dirty="0">
              <a:latin typeface="+mj-lt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In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main.rs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, see this demo function: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demo_copying_vs_moving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GB" dirty="0">
              <a:latin typeface="+mj-lt"/>
              <a:cs typeface="Courier New" panose="02070309020205020404" pitchFamily="49" charset="0"/>
            </a:endParaRP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00BBD0D-3E35-4F33-B681-AA2CC230399E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6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159589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Cloning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>
          <a:xfrm>
            <a:off x="1147379" y="814771"/>
            <a:ext cx="7875240" cy="3547021"/>
          </a:xfrm>
        </p:spPr>
        <p:txBody>
          <a:bodyPr/>
          <a:lstStyle/>
          <a:p>
            <a:r>
              <a:rPr lang="en-GB" dirty="0"/>
              <a:t>For types that don't implement the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GB" dirty="0"/>
              <a:t> trait (e.g.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GB" dirty="0"/>
              <a:t>):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Ownership is transferred to the other variable</a:t>
            </a:r>
          </a:p>
          <a:p>
            <a:pPr lvl="1"/>
            <a:r>
              <a:rPr lang="en-GB" b="1" dirty="0">
                <a:latin typeface="+mj-lt"/>
                <a:cs typeface="Courier New" panose="02070309020205020404" pitchFamily="49" charset="0"/>
              </a:rPr>
              <a:t>The original variable loses ownership</a:t>
            </a:r>
          </a:p>
          <a:p>
            <a:pPr lvl="1"/>
            <a:endParaRPr lang="en-GB" dirty="0">
              <a:latin typeface="+mj-lt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If you want the original variable to continue to be able to access the value, call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clone()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 to clone the value</a:t>
            </a:r>
          </a:p>
          <a:p>
            <a:pPr lvl="1"/>
            <a:endParaRPr lang="en-GB" dirty="0">
              <a:latin typeface="+mj-lt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In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main.rs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, see this demo function: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demo_clone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GB" dirty="0">
              <a:latin typeface="+mj-lt"/>
              <a:cs typeface="Courier New" panose="02070309020205020404" pitchFamily="49" charset="0"/>
            </a:endParaRP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00BBD0D-3E35-4F33-B681-AA2CC230399E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7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52393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8809" y="184354"/>
            <a:ext cx="5289902" cy="93187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2. Borrowing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CAD8C79-36E9-4E8D-A975-AF8D5152AA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8810" y="982981"/>
            <a:ext cx="5289902" cy="3351559"/>
          </a:xfrm>
        </p:spPr>
        <p:txBody>
          <a:bodyPr>
            <a:normAutofit/>
          </a:bodyPr>
          <a:lstStyle/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Overview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Syntax for borrowing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Understanding the borrow checker</a:t>
            </a:r>
            <a:endParaRPr lang="en-GB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6539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marL="55563">
              <a:tabLst>
                <a:tab pos="446088" algn="l"/>
              </a:tabLst>
            </a:pPr>
            <a:r>
              <a:rPr lang="en-GB" sz="3600" dirty="0"/>
              <a:t>Overview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idx="1"/>
          </p:nvPr>
        </p:nvSpPr>
        <p:spPr>
          <a:xfrm>
            <a:off x="1147379" y="814771"/>
            <a:ext cx="7749814" cy="3547021"/>
          </a:xfrm>
        </p:spPr>
        <p:txBody>
          <a:bodyPr/>
          <a:lstStyle/>
          <a:p>
            <a:r>
              <a:rPr lang="en-GB" dirty="0"/>
              <a:t>In the previous section we explained </a:t>
            </a:r>
            <a:r>
              <a:rPr lang="en-GB" b="1" dirty="0"/>
              <a:t>ownership</a:t>
            </a:r>
            <a:r>
              <a:rPr lang="en-GB" dirty="0"/>
              <a:t>, for types that don't implement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</a:p>
          <a:p>
            <a:pPr lvl="1"/>
            <a:r>
              <a:rPr lang="en-GB" dirty="0"/>
              <a:t>When you assign one variable to another, you transfer ownership</a:t>
            </a:r>
          </a:p>
          <a:p>
            <a:pPr lvl="2"/>
            <a:endParaRPr lang="en-GB" dirty="0"/>
          </a:p>
          <a:p>
            <a:r>
              <a:rPr lang="en-GB" dirty="0"/>
              <a:t>In this section we'll explain </a:t>
            </a:r>
            <a:r>
              <a:rPr lang="en-GB" b="1" dirty="0"/>
              <a:t>borrowing</a:t>
            </a:r>
          </a:p>
          <a:p>
            <a:pPr lvl="1"/>
            <a:r>
              <a:rPr lang="en-GB" dirty="0"/>
              <a:t>Facilitated via references</a:t>
            </a:r>
          </a:p>
          <a:p>
            <a:pPr lvl="1"/>
            <a:r>
              <a:rPr lang="en-GB" dirty="0"/>
              <a:t>A reference can "borrow" a value, without claiming ownership</a:t>
            </a:r>
          </a:p>
          <a:p>
            <a:pPr lvl="2"/>
            <a:endParaRPr lang="en-GB" dirty="0"/>
          </a:p>
          <a:p>
            <a:r>
              <a:rPr lang="en-GB" dirty="0"/>
              <a:t>See this project folder: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borrowing/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790DF0-56F5-4575-92B8-F4404AF7EE96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9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98096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for Borrowing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>
          <a:xfrm>
            <a:off x="1147379" y="814771"/>
            <a:ext cx="7753860" cy="3547021"/>
          </a:xfrm>
        </p:spPr>
        <p:txBody>
          <a:bodyPr/>
          <a:lstStyle/>
          <a:p>
            <a:r>
              <a:rPr lang="en-GB" dirty="0"/>
              <a:t>To borrow a value: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Prefix with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</a:p>
          <a:p>
            <a:pPr lvl="2"/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To declare a reference variable, which borrows a value: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Either use implicit typing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Or prefix the data type with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</a:p>
          <a:p>
            <a:pPr lvl="2"/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In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main.rs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, see these demo functions: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demo_syntax_implicit_typing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demo_syntax_explicit_typing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00BBD0D-3E35-4F33-B681-AA2CC230399E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10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158740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Understanding the Borrow Checker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Rust compiler has a "borrow checker", which 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enforces Rust's strict rules for borrowing: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You can have any number of immutable references to a value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You can have only 1 mutable reference to a value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You can't have mutable and immutable references to a value</a:t>
            </a:r>
          </a:p>
          <a:p>
            <a:pPr lvl="1"/>
            <a:endParaRPr lang="en-GB" dirty="0">
              <a:latin typeface="+mj-lt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In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main.rs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, see these demo functions: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demo_borrow_checker1()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demo_borrow_checker2()</a:t>
            </a:r>
            <a:endParaRPr lang="en-GB" dirty="0">
              <a:latin typeface="+mj-lt"/>
              <a:cs typeface="Courier New" panose="02070309020205020404" pitchFamily="49" charset="0"/>
            </a:endParaRPr>
          </a:p>
          <a:p>
            <a:pPr lvl="1"/>
            <a:endParaRPr lang="en-GB" dirty="0">
              <a:latin typeface="+mj-lt"/>
              <a:cs typeface="Courier New" panose="02070309020205020404" pitchFamily="49" charset="0"/>
            </a:endParaRP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00BBD0D-3E35-4F33-B681-AA2CC230399E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11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238110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8809" y="184354"/>
            <a:ext cx="5289902" cy="93187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3. Function Parameters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CAD8C79-36E9-4E8D-A975-AF8D5152AA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8810" y="982981"/>
            <a:ext cx="5289902" cy="3351559"/>
          </a:xfrm>
        </p:spPr>
        <p:txBody>
          <a:bodyPr>
            <a:normAutofit/>
          </a:bodyPr>
          <a:lstStyle/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Overview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Passing values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Passing immutable references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Passing mutable references</a:t>
            </a:r>
          </a:p>
        </p:txBody>
      </p:sp>
    </p:spTree>
    <p:extLst>
      <p:ext uri="{BB962C8B-B14F-4D97-AF65-F5344CB8AC3E}">
        <p14:creationId xmlns:p14="http://schemas.microsoft.com/office/powerpoint/2010/main" val="1553155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marL="55563">
              <a:tabLst>
                <a:tab pos="446088" algn="l"/>
              </a:tabLst>
            </a:pPr>
            <a:r>
              <a:rPr lang="en-GB" sz="3600" dirty="0"/>
              <a:t>Overview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 this section we'll see what happens when you pass a value into a function (for values that don't implement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GB" dirty="0"/>
              <a:t>)</a:t>
            </a:r>
          </a:p>
          <a:p>
            <a:pPr lvl="1"/>
            <a:endParaRPr lang="en-GB" dirty="0"/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We'll discuss:</a:t>
            </a:r>
          </a:p>
          <a:p>
            <a:pPr lvl="1"/>
            <a:r>
              <a:rPr lang="en-GB" dirty="0"/>
              <a:t>Passing a value, </a:t>
            </a:r>
            <a:r>
              <a:rPr lang="en-GB"/>
              <a:t>which transfers </a:t>
            </a:r>
            <a:r>
              <a:rPr lang="en-GB" dirty="0"/>
              <a:t>ownership</a:t>
            </a:r>
          </a:p>
          <a:p>
            <a:pPr lvl="1"/>
            <a:r>
              <a:rPr lang="en-GB" dirty="0"/>
              <a:t>Passing a reference, which borrows the value</a:t>
            </a:r>
          </a:p>
          <a:p>
            <a:pPr lvl="1"/>
            <a:endParaRPr lang="en-GB" dirty="0"/>
          </a:p>
          <a:p>
            <a:r>
              <a:rPr lang="en-GB" dirty="0"/>
              <a:t>See this project folder: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function_parameters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790DF0-56F5-4575-92B8-F4404AF7EE96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13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906999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Passing Values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>
          <a:xfrm>
            <a:off x="1147379" y="814771"/>
            <a:ext cx="7753860" cy="3547021"/>
          </a:xfrm>
        </p:spPr>
        <p:txBody>
          <a:bodyPr/>
          <a:lstStyle/>
          <a:p>
            <a:r>
              <a:rPr lang="en-GB" dirty="0"/>
              <a:t>For a type that doesn't implement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GB" dirty="0"/>
              <a:t>…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When you pass the value into a function, </a:t>
            </a:r>
            <a:r>
              <a:rPr lang="en-GB" i="1" dirty="0">
                <a:latin typeface="+mj-lt"/>
                <a:cs typeface="Courier New" panose="02070309020205020404" pitchFamily="49" charset="0"/>
              </a:rPr>
              <a:t>it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 </a:t>
            </a:r>
            <a:r>
              <a:rPr lang="en-GB" i="1" dirty="0">
                <a:latin typeface="+mj-lt"/>
                <a:cs typeface="Courier New" panose="02070309020205020404" pitchFamily="49" charset="0"/>
              </a:rPr>
              <a:t>transfers ownership</a:t>
            </a:r>
            <a:endParaRPr lang="en-GB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The called function claims ownership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The calling function loses ownership</a:t>
            </a:r>
          </a:p>
          <a:p>
            <a:pPr lvl="1"/>
            <a:endParaRPr lang="en-GB" dirty="0">
              <a:latin typeface="+mj-lt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In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main.rs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, see these demo functions: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demo_passing_values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some_func1()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00BBD0D-3E35-4F33-B681-AA2CC230399E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14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89091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Passing References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>
          <a:xfrm>
            <a:off x="1147379" y="814771"/>
            <a:ext cx="7753860" cy="3547021"/>
          </a:xfrm>
        </p:spPr>
        <p:txBody>
          <a:bodyPr/>
          <a:lstStyle/>
          <a:p>
            <a:r>
              <a:rPr lang="en-GB" dirty="0"/>
              <a:t>You can pass values into a function by reference, if you like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The function </a:t>
            </a:r>
            <a:r>
              <a:rPr lang="en-GB" i="1" dirty="0">
                <a:latin typeface="+mj-lt"/>
                <a:cs typeface="Courier New" panose="02070309020205020404" pitchFamily="49" charset="0"/>
              </a:rPr>
              <a:t>borrows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 the value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No transfer of ownership occurs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The calling function can continue to use the value afterwards</a:t>
            </a:r>
          </a:p>
          <a:p>
            <a:pPr lvl="1"/>
            <a:endParaRPr lang="en-GB" dirty="0">
              <a:latin typeface="+mj-lt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In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main.rs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, see these demo functions: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demo_passing_references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some_func2()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00BBD0D-3E35-4F33-B681-AA2CC230399E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15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306783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Passing Mutable References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>
          <a:xfrm>
            <a:off x="1147379" y="814771"/>
            <a:ext cx="7753860" cy="3547021"/>
          </a:xfrm>
        </p:spPr>
        <p:txBody>
          <a:bodyPr/>
          <a:lstStyle/>
          <a:p>
            <a:r>
              <a:rPr lang="en-GB" dirty="0"/>
              <a:t>If you want a function to be able to change a value, then pass in a mutable reference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In the function call, qualify the parameter with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mut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In the function declaration, qualify the argument with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mut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(Also, bear in mind Rust's strict borrow-checker rules)</a:t>
            </a:r>
          </a:p>
          <a:p>
            <a:pPr lvl="1"/>
            <a:endParaRPr lang="en-GB" dirty="0">
              <a:latin typeface="+mj-lt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In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main.rs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, see these demo functions: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demo_passing_mutable_references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some_func3()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00BBD0D-3E35-4F33-B681-AA2CC230399E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16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410949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8809" y="184354"/>
            <a:ext cx="5289902" cy="93187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4. Function Returns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CAD8C79-36E9-4E8D-A975-AF8D5152AA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8810" y="982981"/>
            <a:ext cx="5289902" cy="3351559"/>
          </a:xfrm>
        </p:spPr>
        <p:txBody>
          <a:bodyPr>
            <a:normAutofit/>
          </a:bodyPr>
          <a:lstStyle/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Overview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Returning a value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Returning a reference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Returning a mutable reference</a:t>
            </a:r>
          </a:p>
        </p:txBody>
      </p:sp>
    </p:spTree>
    <p:extLst>
      <p:ext uri="{BB962C8B-B14F-4D97-AF65-F5344CB8AC3E}">
        <p14:creationId xmlns:p14="http://schemas.microsoft.com/office/powerpoint/2010/main" val="17192709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marL="55563">
              <a:tabLst>
                <a:tab pos="446088" algn="l"/>
              </a:tabLst>
            </a:pPr>
            <a:r>
              <a:rPr lang="en-GB" sz="3600" dirty="0"/>
              <a:t>Overview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 this section we'll see what happens when you return a value from a function (for values that don't implement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GB" dirty="0"/>
              <a:t>)</a:t>
            </a:r>
          </a:p>
          <a:p>
            <a:pPr lvl="1"/>
            <a:endParaRPr lang="en-GB" dirty="0"/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We'll discuss:</a:t>
            </a:r>
          </a:p>
          <a:p>
            <a:pPr lvl="1"/>
            <a:r>
              <a:rPr lang="en-GB" dirty="0"/>
              <a:t>Returning a value, which transferring ownership</a:t>
            </a:r>
          </a:p>
          <a:p>
            <a:pPr lvl="1"/>
            <a:r>
              <a:rPr lang="en-GB" dirty="0"/>
              <a:t>Returning a reference, which borrows the value</a:t>
            </a:r>
          </a:p>
          <a:p>
            <a:pPr lvl="1"/>
            <a:endParaRPr lang="en-GB" dirty="0"/>
          </a:p>
          <a:p>
            <a:r>
              <a:rPr lang="en-GB" dirty="0"/>
              <a:t>See this project folder: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function_returns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790DF0-56F5-4575-92B8-F4404AF7EE96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18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876326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Returning a Value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>
          <a:xfrm>
            <a:off x="1147379" y="814771"/>
            <a:ext cx="7753860" cy="3547021"/>
          </a:xfrm>
        </p:spPr>
        <p:txBody>
          <a:bodyPr/>
          <a:lstStyle/>
          <a:p>
            <a:r>
              <a:rPr lang="en-GB" dirty="0"/>
              <a:t>For a type that doesn't implement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GB" dirty="0"/>
              <a:t>…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When you return a value from a function, it transfers ownership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The recipient function receives ownership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(The value is </a:t>
            </a:r>
            <a:r>
              <a:rPr lang="en-GB" i="1" dirty="0">
                <a:latin typeface="+mj-lt"/>
                <a:cs typeface="Courier New" panose="02070309020205020404" pitchFamily="49" charset="0"/>
              </a:rPr>
              <a:t>moved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 to the recipient function)</a:t>
            </a:r>
          </a:p>
          <a:p>
            <a:pPr lvl="1"/>
            <a:endParaRPr lang="en-GB" dirty="0">
              <a:latin typeface="+mj-lt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In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main.rs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, see these demo functions: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demo_returning_value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some_func1()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00BBD0D-3E35-4F33-B681-AA2CC230399E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19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645201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Returning a Reference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>
          <a:xfrm>
            <a:off x="1147379" y="814771"/>
            <a:ext cx="7753860" cy="3547021"/>
          </a:xfrm>
        </p:spPr>
        <p:txBody>
          <a:bodyPr/>
          <a:lstStyle/>
          <a:p>
            <a:r>
              <a:rPr lang="en-GB" dirty="0"/>
              <a:t>You can return by reference, if you like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The recipient function receives a reference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No transfer of ownership occurs</a:t>
            </a:r>
          </a:p>
          <a:p>
            <a:pPr lvl="2"/>
            <a:endParaRPr lang="en-GB" dirty="0">
              <a:latin typeface="+mj-lt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Important: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Rust makes sure you can't return a dangling reference</a:t>
            </a:r>
          </a:p>
          <a:p>
            <a:pPr lvl="2"/>
            <a:endParaRPr lang="en-GB" dirty="0">
              <a:latin typeface="+mj-lt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In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main.rs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, see these demo functions: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demo_returning_reference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some_func2_good(), some_func2_bad()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00BBD0D-3E35-4F33-B681-AA2CC230399E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20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608905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Returning a Mutable Reference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>
          <a:xfrm>
            <a:off x="1147379" y="814771"/>
            <a:ext cx="7753860" cy="3547021"/>
          </a:xfrm>
        </p:spPr>
        <p:txBody>
          <a:bodyPr/>
          <a:lstStyle/>
          <a:p>
            <a:r>
              <a:rPr lang="en-GB" dirty="0"/>
              <a:t>You can return a mutable reference, if you like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In the called function, qualify the return type with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mut</a:t>
            </a:r>
          </a:p>
          <a:p>
            <a:pPr lvl="1"/>
            <a:endParaRPr lang="en-GB" dirty="0">
              <a:latin typeface="+mj-lt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In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main.rs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, see these demo functions: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demo_returning_mutable_reference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some_func3()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00BBD0D-3E35-4F33-B681-AA2CC230399E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21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152549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8808" y="123665"/>
            <a:ext cx="5472823" cy="592480"/>
          </a:xfrm>
        </p:spPr>
        <p:txBody>
          <a:bodyPr/>
          <a:lstStyle/>
          <a:p>
            <a:r>
              <a:rPr lang="en-US" sz="3200" dirty="0">
                <a:solidFill>
                  <a:schemeClr val="bg1"/>
                </a:solidFill>
              </a:rPr>
              <a:t>5.	Nested Functions &amp; Closures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CAD8C79-36E9-4E8D-A975-AF8D5152AA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8810" y="982981"/>
            <a:ext cx="5289902" cy="3351559"/>
          </a:xfrm>
        </p:spPr>
        <p:txBody>
          <a:bodyPr>
            <a:normAutofit/>
          </a:bodyPr>
          <a:lstStyle/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Overview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Nested functions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Closures</a:t>
            </a:r>
          </a:p>
        </p:txBody>
      </p:sp>
    </p:spTree>
    <p:extLst>
      <p:ext uri="{BB962C8B-B14F-4D97-AF65-F5344CB8AC3E}">
        <p14:creationId xmlns:p14="http://schemas.microsoft.com/office/powerpoint/2010/main" val="29860048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marL="55563">
              <a:tabLst>
                <a:tab pos="446088" algn="l"/>
              </a:tabLst>
            </a:pPr>
            <a:r>
              <a:rPr lang="en-GB" sz="3600" dirty="0"/>
              <a:t>Overview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idx="1"/>
          </p:nvPr>
        </p:nvSpPr>
        <p:spPr>
          <a:xfrm>
            <a:off x="1147379" y="814771"/>
            <a:ext cx="7765998" cy="3547021"/>
          </a:xfrm>
        </p:spPr>
        <p:txBody>
          <a:bodyPr/>
          <a:lstStyle/>
          <a:p>
            <a:r>
              <a:rPr lang="en-GB" dirty="0"/>
              <a:t>In this section we'll look at 2 similar (but different) techniques:</a:t>
            </a:r>
          </a:p>
          <a:p>
            <a:pPr lvl="1"/>
            <a:r>
              <a:rPr lang="en-GB" dirty="0"/>
              <a:t>Nested functions</a:t>
            </a:r>
          </a:p>
          <a:p>
            <a:pPr lvl="1"/>
            <a:r>
              <a:rPr lang="en-GB" dirty="0"/>
              <a:t>Closures (similar to lambdas in other languages)</a:t>
            </a:r>
          </a:p>
          <a:p>
            <a:pPr lvl="1"/>
            <a:endParaRPr lang="en-GB" dirty="0"/>
          </a:p>
          <a:p>
            <a:r>
              <a:rPr lang="en-GB" dirty="0"/>
              <a:t>See this project folder: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nested_functions_and_closures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790DF0-56F5-4575-92B8-F4404AF7EE96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23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429810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Functions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>
          <a:xfrm>
            <a:off x="1147379" y="814771"/>
            <a:ext cx="7753860" cy="3547021"/>
          </a:xfrm>
        </p:spPr>
        <p:txBody>
          <a:bodyPr/>
          <a:lstStyle/>
          <a:p>
            <a:r>
              <a:rPr lang="en-GB" dirty="0"/>
              <a:t>Rust allows you to define one function inside another</a:t>
            </a:r>
          </a:p>
          <a:p>
            <a:pPr lvl="1"/>
            <a:r>
              <a:rPr lang="en-GB" dirty="0"/>
              <a:t>The nested function is only visible within the outer function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Not particularly useful, but good to know :-}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GB" dirty="0">
              <a:latin typeface="+mj-lt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In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main.rs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, see this demo function: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demo_nested_functions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00BBD0D-3E35-4F33-B681-AA2CC230399E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24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37328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Closures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closure is an anonymous function</a:t>
            </a:r>
          </a:p>
          <a:p>
            <a:pPr lvl="1"/>
            <a:r>
              <a:rPr lang="en-GB" dirty="0"/>
              <a:t>Similar to lambdas in other languages</a:t>
            </a:r>
          </a:p>
          <a:p>
            <a:pPr lvl="1"/>
            <a:r>
              <a:rPr lang="en-GB" dirty="0">
                <a:latin typeface="+mj-lt"/>
                <a:cs typeface="Courier New" panose="02070309020205020404" pitchFamily="49" charset="0"/>
              </a:rPr>
              <a:t>Very useful, see examples in folder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b_worked_examples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GB" dirty="0">
              <a:latin typeface="+mj-lt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In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main.rs</a:t>
            </a:r>
            <a:r>
              <a:rPr lang="en-GB" dirty="0">
                <a:latin typeface="+mj-lt"/>
                <a:cs typeface="Courier New" panose="02070309020205020404" pitchFamily="49" charset="0"/>
              </a:rPr>
              <a:t>, see this demo function: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demo_closures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00BBD0D-3E35-4F33-B681-AA2CC230399E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25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194274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8809" y="184354"/>
            <a:ext cx="5289902" cy="93187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Summary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58FE4899-46EA-4D85-B506-C969501309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8810" y="982981"/>
            <a:ext cx="5289902" cy="3351559"/>
          </a:xfrm>
        </p:spPr>
        <p:txBody>
          <a:bodyPr>
            <a:normAutofit/>
          </a:bodyPr>
          <a:lstStyle/>
          <a:p>
            <a:pPr marL="449263" indent="-393700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Simple ownership</a:t>
            </a:r>
          </a:p>
          <a:p>
            <a:pPr marL="449263" indent="-393700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Borrowing</a:t>
            </a:r>
          </a:p>
          <a:p>
            <a:pPr marL="449263" indent="-393700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Function parameters</a:t>
            </a:r>
          </a:p>
          <a:p>
            <a:pPr marL="449263" indent="-393700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Function returns</a:t>
            </a:r>
          </a:p>
          <a:p>
            <a:pPr marL="449263" indent="-393700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Nested functions and closures</a:t>
            </a:r>
          </a:p>
          <a:p>
            <a:pPr marL="449263" indent="-393700">
              <a:buFont typeface="Arial" panose="020B0604020202020204" pitchFamily="34" charset="0"/>
              <a:buChar char="•"/>
              <a:tabLst>
                <a:tab pos="446088" algn="l"/>
              </a:tabLst>
            </a:pPr>
            <a:endParaRPr lang="en-GB" sz="2200" dirty="0"/>
          </a:p>
          <a:p>
            <a:pPr marL="449263" indent="-393700">
              <a:buFont typeface="Arial" panose="020B0604020202020204" pitchFamily="34" charset="0"/>
              <a:buChar char="•"/>
              <a:tabLst>
                <a:tab pos="446088" algn="l"/>
              </a:tabLst>
            </a:pP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4185660244"/>
      </p:ext>
    </p:extLst>
  </p:cSld>
  <p:clrMapOvr>
    <a:masterClrMapping/>
  </p:clrMapOvr>
</p:sld>
</file>

<file path=ppt/theme/theme1.xml><?xml version="1.0" encoding="utf-8"?>
<a:theme xmlns:a="http://schemas.openxmlformats.org/drawingml/2006/main" name="Standard_LiveLessons_2017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tandard_LiveLessons_2016.potm" id="{8C1633E9-E98A-446F-92F4-E3D84D4249FA}" vid="{A44C486B-6B48-42BE-B4AA-FE194AC1400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Standard_LiveLessons_2017.potm</Template>
  <TotalTime>3428</TotalTime>
  <Words>1220</Words>
  <Application>Microsoft Office PowerPoint</Application>
  <PresentationFormat>On-screen Show (16:9)</PresentationFormat>
  <Paragraphs>230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Courier New</vt:lpstr>
      <vt:lpstr>Standard_LiveLessons_2017</vt:lpstr>
      <vt:lpstr>Ownership and Borrowing</vt:lpstr>
      <vt:lpstr>1. Simple Ownership</vt:lpstr>
      <vt:lpstr>Overview</vt:lpstr>
      <vt:lpstr>Scope</vt:lpstr>
      <vt:lpstr>Understanding the String Type</vt:lpstr>
      <vt:lpstr>Copying vs. Moving</vt:lpstr>
      <vt:lpstr>Cloning</vt:lpstr>
      <vt:lpstr>2. Borrowing</vt:lpstr>
      <vt:lpstr>Overview</vt:lpstr>
      <vt:lpstr>Syntax for Borrowing</vt:lpstr>
      <vt:lpstr>Understanding the Borrow Checker</vt:lpstr>
      <vt:lpstr>3. Function Parameters</vt:lpstr>
      <vt:lpstr>Overview</vt:lpstr>
      <vt:lpstr>Passing Values</vt:lpstr>
      <vt:lpstr>Passing References</vt:lpstr>
      <vt:lpstr>Passing Mutable References</vt:lpstr>
      <vt:lpstr>4. Function Returns</vt:lpstr>
      <vt:lpstr>Overview</vt:lpstr>
      <vt:lpstr>Returning a Value</vt:lpstr>
      <vt:lpstr>Returning a Reference</vt:lpstr>
      <vt:lpstr>Returning a Mutable Reference</vt:lpstr>
      <vt:lpstr>5. Nested Functions &amp; Closures</vt:lpstr>
      <vt:lpstr>Overview</vt:lpstr>
      <vt:lpstr>Nested Functions</vt:lpstr>
      <vt:lpstr>Closures</vt:lpstr>
      <vt:lpstr>Summary</vt:lpstr>
    </vt:vector>
  </TitlesOfParts>
  <Company>Pearson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Julie Phifer</dc:creator>
  <cp:lastModifiedBy>Andy Olsen</cp:lastModifiedBy>
  <cp:revision>120</cp:revision>
  <dcterms:created xsi:type="dcterms:W3CDTF">2015-09-28T19:52:00Z</dcterms:created>
  <dcterms:modified xsi:type="dcterms:W3CDTF">2022-12-14T09:56:18Z</dcterms:modified>
</cp:coreProperties>
</file>