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7" r:id="rId2"/>
    <p:sldId id="710" r:id="rId3"/>
    <p:sldId id="532" r:id="rId4"/>
    <p:sldId id="629" r:id="rId5"/>
    <p:sldId id="719" r:id="rId6"/>
    <p:sldId id="685" r:id="rId7"/>
    <p:sldId id="688" r:id="rId8"/>
    <p:sldId id="720" r:id="rId9"/>
    <p:sldId id="721" r:id="rId10"/>
    <p:sldId id="676" r:id="rId11"/>
    <p:sldId id="725" r:id="rId12"/>
    <p:sldId id="686" r:id="rId13"/>
    <p:sldId id="679" r:id="rId14"/>
    <p:sldId id="697" r:id="rId15"/>
    <p:sldId id="698" r:id="rId16"/>
    <p:sldId id="722" r:id="rId17"/>
    <p:sldId id="708" r:id="rId18"/>
    <p:sldId id="724" r:id="rId19"/>
    <p:sldId id="723" r:id="rId20"/>
    <p:sldId id="711" r:id="rId2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FF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682" autoAdjust="0"/>
    <p:restoredTop sz="96725" autoAdjust="0"/>
  </p:normalViewPr>
  <p:slideViewPr>
    <p:cSldViewPr snapToGrid="0" snapToObjects="1">
      <p:cViewPr varScale="1">
        <p:scale>
          <a:sx n="146" d="100"/>
          <a:sy n="146" d="100"/>
        </p:scale>
        <p:origin x="168" y="9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84" d="100"/>
          <a:sy n="84" d="100"/>
        </p:scale>
        <p:origin x="2637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DEBBD1-6077-4938-811F-54E4AC433829}" type="datetimeFigureOut">
              <a:rPr lang="en-GB" smtClean="0"/>
              <a:t>15/05/2025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E77016-B761-47E8-ADDA-7F73F02D16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4563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58603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66688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0211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67970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1992313" y="309563"/>
            <a:ext cx="3476625" cy="182562"/>
          </a:xfrm>
          <a:noFill/>
        </p:spPr>
        <p:txBody>
          <a:bodyPr/>
          <a:lstStyle/>
          <a:p>
            <a:r>
              <a:rPr lang="en-GB"/>
              <a:t>Core Features in ES6</a:t>
            </a:r>
            <a:endParaRPr lang="en-GB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1992313" y="309563"/>
            <a:ext cx="3476625" cy="182562"/>
          </a:xfrm>
          <a:noFill/>
        </p:spPr>
        <p:txBody>
          <a:bodyPr/>
          <a:lstStyle/>
          <a:p>
            <a:r>
              <a:rPr lang="en-GB"/>
              <a:t>Core Features in ES6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24557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1992313" y="309563"/>
            <a:ext cx="3476625" cy="182562"/>
          </a:xfrm>
          <a:noFill/>
        </p:spPr>
        <p:txBody>
          <a:bodyPr/>
          <a:lstStyle/>
          <a:p>
            <a:r>
              <a:rPr lang="en-GB"/>
              <a:t>Core Features in ES6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748685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1992313" y="309563"/>
            <a:ext cx="3476625" cy="182562"/>
          </a:xfrm>
          <a:noFill/>
        </p:spPr>
        <p:txBody>
          <a:bodyPr/>
          <a:lstStyle/>
          <a:p>
            <a:r>
              <a:rPr lang="en-GB"/>
              <a:t>Core Features in ES6</a:t>
            </a:r>
            <a:endParaRPr lang="en-GB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1992313" y="309563"/>
            <a:ext cx="3476625" cy="182562"/>
          </a:xfrm>
          <a:noFill/>
        </p:spPr>
        <p:txBody>
          <a:bodyPr/>
          <a:lstStyle/>
          <a:p>
            <a:r>
              <a:rPr lang="en-GB"/>
              <a:t>Core Features in ES6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01629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4859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2"/>
          <p:cNvSpPr>
            <a:spLocks noChangeArrowheads="1"/>
          </p:cNvSpPr>
          <p:nvPr/>
        </p:nvSpPr>
        <p:spPr bwMode="auto">
          <a:xfrm>
            <a:off x="4146420" y="10754"/>
            <a:ext cx="3168781" cy="448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1" name="Rectangle 3"/>
          <p:cNvSpPr>
            <a:spLocks noChangeArrowheads="1"/>
          </p:cNvSpPr>
          <p:nvPr/>
        </p:nvSpPr>
        <p:spPr bwMode="auto">
          <a:xfrm>
            <a:off x="0" y="9140342"/>
            <a:ext cx="3168781" cy="448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2" name="Rectangle 4"/>
          <p:cNvSpPr>
            <a:spLocks noChangeArrowheads="1"/>
          </p:cNvSpPr>
          <p:nvPr/>
        </p:nvSpPr>
        <p:spPr bwMode="auto">
          <a:xfrm>
            <a:off x="0" y="10754"/>
            <a:ext cx="3168781" cy="448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4" name="Rectangle 6"/>
          <p:cNvSpPr>
            <a:spLocks noChangeArrowheads="1"/>
          </p:cNvSpPr>
          <p:nvPr/>
        </p:nvSpPr>
        <p:spPr bwMode="auto">
          <a:xfrm>
            <a:off x="986186" y="4493362"/>
            <a:ext cx="119641" cy="2949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1992313" y="309563"/>
            <a:ext cx="3476625" cy="182562"/>
          </a:xfrm>
          <a:noFill/>
        </p:spPr>
        <p:txBody>
          <a:bodyPr/>
          <a:lstStyle/>
          <a:p>
            <a:r>
              <a:rPr lang="en-GB"/>
              <a:t>Core Features in ES6</a:t>
            </a:r>
            <a:endParaRPr lang="en-GB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2"/>
          <p:cNvSpPr>
            <a:spLocks noChangeArrowheads="1"/>
          </p:cNvSpPr>
          <p:nvPr/>
        </p:nvSpPr>
        <p:spPr bwMode="auto">
          <a:xfrm>
            <a:off x="4146420" y="10754"/>
            <a:ext cx="3168781" cy="448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1" name="Rectangle 3"/>
          <p:cNvSpPr>
            <a:spLocks noChangeArrowheads="1"/>
          </p:cNvSpPr>
          <p:nvPr/>
        </p:nvSpPr>
        <p:spPr bwMode="auto">
          <a:xfrm>
            <a:off x="0" y="9140342"/>
            <a:ext cx="3168781" cy="448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2" name="Rectangle 4"/>
          <p:cNvSpPr>
            <a:spLocks noChangeArrowheads="1"/>
          </p:cNvSpPr>
          <p:nvPr/>
        </p:nvSpPr>
        <p:spPr bwMode="auto">
          <a:xfrm>
            <a:off x="0" y="10754"/>
            <a:ext cx="3168781" cy="448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4" name="Rectangle 6"/>
          <p:cNvSpPr>
            <a:spLocks noChangeArrowheads="1"/>
          </p:cNvSpPr>
          <p:nvPr/>
        </p:nvSpPr>
        <p:spPr bwMode="auto">
          <a:xfrm>
            <a:off x="986186" y="4493362"/>
            <a:ext cx="119641" cy="2949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1992313" y="309563"/>
            <a:ext cx="3476625" cy="182562"/>
          </a:xfrm>
          <a:noFill/>
        </p:spPr>
        <p:txBody>
          <a:bodyPr/>
          <a:lstStyle/>
          <a:p>
            <a:r>
              <a:rPr lang="en-GB"/>
              <a:t>Core Features in ES6</a:t>
            </a:r>
            <a:endParaRPr lang="en-GB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2"/>
          <p:cNvSpPr>
            <a:spLocks noChangeArrowheads="1"/>
          </p:cNvSpPr>
          <p:nvPr/>
        </p:nvSpPr>
        <p:spPr bwMode="auto">
          <a:xfrm>
            <a:off x="4146420" y="10754"/>
            <a:ext cx="3168781" cy="448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1" name="Rectangle 3"/>
          <p:cNvSpPr>
            <a:spLocks noChangeArrowheads="1"/>
          </p:cNvSpPr>
          <p:nvPr/>
        </p:nvSpPr>
        <p:spPr bwMode="auto">
          <a:xfrm>
            <a:off x="0" y="9140342"/>
            <a:ext cx="3168781" cy="448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2" name="Rectangle 4"/>
          <p:cNvSpPr>
            <a:spLocks noChangeArrowheads="1"/>
          </p:cNvSpPr>
          <p:nvPr/>
        </p:nvSpPr>
        <p:spPr bwMode="auto">
          <a:xfrm>
            <a:off x="0" y="10754"/>
            <a:ext cx="3168781" cy="448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4" name="Rectangle 6"/>
          <p:cNvSpPr>
            <a:spLocks noChangeArrowheads="1"/>
          </p:cNvSpPr>
          <p:nvPr/>
        </p:nvSpPr>
        <p:spPr bwMode="auto">
          <a:xfrm>
            <a:off x="986186" y="4493362"/>
            <a:ext cx="119641" cy="2949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1992313" y="309563"/>
            <a:ext cx="3476625" cy="182562"/>
          </a:xfrm>
          <a:noFill/>
        </p:spPr>
        <p:txBody>
          <a:bodyPr/>
          <a:lstStyle/>
          <a:p>
            <a:r>
              <a:rPr lang="en-GB"/>
              <a:t>Core Features in ES6</a:t>
            </a:r>
            <a:endParaRPr lang="en-GB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2"/>
          <p:cNvSpPr>
            <a:spLocks noChangeArrowheads="1"/>
          </p:cNvSpPr>
          <p:nvPr/>
        </p:nvSpPr>
        <p:spPr bwMode="auto">
          <a:xfrm>
            <a:off x="4146420" y="10754"/>
            <a:ext cx="3168781" cy="448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1" name="Rectangle 3"/>
          <p:cNvSpPr>
            <a:spLocks noChangeArrowheads="1"/>
          </p:cNvSpPr>
          <p:nvPr/>
        </p:nvSpPr>
        <p:spPr bwMode="auto">
          <a:xfrm>
            <a:off x="0" y="9140342"/>
            <a:ext cx="3168781" cy="448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2" name="Rectangle 4"/>
          <p:cNvSpPr>
            <a:spLocks noChangeArrowheads="1"/>
          </p:cNvSpPr>
          <p:nvPr/>
        </p:nvSpPr>
        <p:spPr bwMode="auto">
          <a:xfrm>
            <a:off x="0" y="10754"/>
            <a:ext cx="3168781" cy="448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4" name="Rectangle 6"/>
          <p:cNvSpPr>
            <a:spLocks noChangeArrowheads="1"/>
          </p:cNvSpPr>
          <p:nvPr/>
        </p:nvSpPr>
        <p:spPr bwMode="auto">
          <a:xfrm>
            <a:off x="986186" y="4493362"/>
            <a:ext cx="119641" cy="2949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1992313" y="309563"/>
            <a:ext cx="3476625" cy="182562"/>
          </a:xfrm>
          <a:noFill/>
        </p:spPr>
        <p:txBody>
          <a:bodyPr/>
          <a:lstStyle/>
          <a:p>
            <a:r>
              <a:rPr lang="en-GB"/>
              <a:t>Core Features in ES6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39402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2"/>
          <p:cNvSpPr>
            <a:spLocks noChangeArrowheads="1"/>
          </p:cNvSpPr>
          <p:nvPr/>
        </p:nvSpPr>
        <p:spPr bwMode="auto">
          <a:xfrm>
            <a:off x="4146420" y="10754"/>
            <a:ext cx="3168781" cy="448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1" name="Rectangle 3"/>
          <p:cNvSpPr>
            <a:spLocks noChangeArrowheads="1"/>
          </p:cNvSpPr>
          <p:nvPr/>
        </p:nvSpPr>
        <p:spPr bwMode="auto">
          <a:xfrm>
            <a:off x="0" y="9140342"/>
            <a:ext cx="3168781" cy="448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2" name="Rectangle 4"/>
          <p:cNvSpPr>
            <a:spLocks noChangeArrowheads="1"/>
          </p:cNvSpPr>
          <p:nvPr/>
        </p:nvSpPr>
        <p:spPr bwMode="auto">
          <a:xfrm>
            <a:off x="0" y="10754"/>
            <a:ext cx="3168781" cy="448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4" name="Rectangle 6"/>
          <p:cNvSpPr>
            <a:spLocks noChangeArrowheads="1"/>
          </p:cNvSpPr>
          <p:nvPr/>
        </p:nvSpPr>
        <p:spPr bwMode="auto">
          <a:xfrm>
            <a:off x="986186" y="4493362"/>
            <a:ext cx="119641" cy="2949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1992313" y="309563"/>
            <a:ext cx="3476625" cy="182562"/>
          </a:xfrm>
          <a:noFill/>
        </p:spPr>
        <p:txBody>
          <a:bodyPr/>
          <a:lstStyle/>
          <a:p>
            <a:r>
              <a:rPr lang="en-GB"/>
              <a:t>Core Features in ES6</a:t>
            </a:r>
            <a:endParaRPr lang="en-GB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2"/>
          <p:cNvSpPr>
            <a:spLocks noChangeArrowheads="1"/>
          </p:cNvSpPr>
          <p:nvPr/>
        </p:nvSpPr>
        <p:spPr bwMode="auto">
          <a:xfrm>
            <a:off x="4146420" y="10754"/>
            <a:ext cx="3168781" cy="448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1" name="Rectangle 3"/>
          <p:cNvSpPr>
            <a:spLocks noChangeArrowheads="1"/>
          </p:cNvSpPr>
          <p:nvPr/>
        </p:nvSpPr>
        <p:spPr bwMode="auto">
          <a:xfrm>
            <a:off x="0" y="9140342"/>
            <a:ext cx="3168781" cy="448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2" name="Rectangle 4"/>
          <p:cNvSpPr>
            <a:spLocks noChangeArrowheads="1"/>
          </p:cNvSpPr>
          <p:nvPr/>
        </p:nvSpPr>
        <p:spPr bwMode="auto">
          <a:xfrm>
            <a:off x="0" y="10754"/>
            <a:ext cx="3168781" cy="448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4" name="Rectangle 6"/>
          <p:cNvSpPr>
            <a:spLocks noChangeArrowheads="1"/>
          </p:cNvSpPr>
          <p:nvPr/>
        </p:nvSpPr>
        <p:spPr bwMode="auto">
          <a:xfrm>
            <a:off x="986186" y="4493362"/>
            <a:ext cx="119641" cy="2949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1992313" y="309563"/>
            <a:ext cx="3476625" cy="182562"/>
          </a:xfrm>
          <a:noFill/>
        </p:spPr>
        <p:txBody>
          <a:bodyPr/>
          <a:lstStyle/>
          <a:p>
            <a:r>
              <a:rPr lang="en-GB"/>
              <a:t>Core Features in ES6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490118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2"/>
          <p:cNvSpPr>
            <a:spLocks noChangeArrowheads="1"/>
          </p:cNvSpPr>
          <p:nvPr/>
        </p:nvSpPr>
        <p:spPr bwMode="auto">
          <a:xfrm>
            <a:off x="4146420" y="10754"/>
            <a:ext cx="3168781" cy="448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1" name="Rectangle 3"/>
          <p:cNvSpPr>
            <a:spLocks noChangeArrowheads="1"/>
          </p:cNvSpPr>
          <p:nvPr/>
        </p:nvSpPr>
        <p:spPr bwMode="auto">
          <a:xfrm>
            <a:off x="0" y="9140342"/>
            <a:ext cx="3168781" cy="448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2" name="Rectangle 4"/>
          <p:cNvSpPr>
            <a:spLocks noChangeArrowheads="1"/>
          </p:cNvSpPr>
          <p:nvPr/>
        </p:nvSpPr>
        <p:spPr bwMode="auto">
          <a:xfrm>
            <a:off x="0" y="10754"/>
            <a:ext cx="3168781" cy="448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4" name="Rectangle 6"/>
          <p:cNvSpPr>
            <a:spLocks noChangeArrowheads="1"/>
          </p:cNvSpPr>
          <p:nvPr/>
        </p:nvSpPr>
        <p:spPr bwMode="auto">
          <a:xfrm>
            <a:off x="986186" y="4493362"/>
            <a:ext cx="119641" cy="2949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1992313" y="309563"/>
            <a:ext cx="3476625" cy="182562"/>
          </a:xfrm>
          <a:noFill/>
        </p:spPr>
        <p:txBody>
          <a:bodyPr/>
          <a:lstStyle/>
          <a:p>
            <a:r>
              <a:rPr lang="en-GB"/>
              <a:t>Core Features in ES6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22207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8228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5E3EC92-0BF8-B04C-BDA1-D36DC16EC2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11061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36832" y="1597819"/>
            <a:ext cx="4975394" cy="1102519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600" b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Lesson #: Lesson Name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36831" y="2788538"/>
            <a:ext cx="4975395" cy="1314450"/>
          </a:xfrm>
        </p:spPr>
        <p:txBody>
          <a:bodyPr>
            <a:normAutofit/>
          </a:bodyPr>
          <a:lstStyle>
            <a:lvl1pPr marL="685800" indent="-630936" algn="l">
              <a:buNone/>
              <a:tabLst>
                <a:tab pos="574675" algn="l"/>
              </a:tabLst>
              <a:defRPr sz="2800" b="0" baseline="0">
                <a:solidFill>
                  <a:srgbClr val="0000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#.# 	Learning objective or      Sub-lesson Title</a:t>
            </a:r>
          </a:p>
        </p:txBody>
      </p:sp>
    </p:spTree>
    <p:extLst>
      <p:ext uri="{BB962C8B-B14F-4D97-AF65-F5344CB8AC3E}">
        <p14:creationId xmlns:p14="http://schemas.microsoft.com/office/powerpoint/2010/main" val="3128257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3823434-19E5-7244-957A-48409271A8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8620" y="-78830"/>
            <a:ext cx="7548179" cy="56055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7379" y="814771"/>
            <a:ext cx="6839712" cy="3547021"/>
          </a:xfrm>
        </p:spPr>
        <p:txBody>
          <a:bodyPr>
            <a:no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42777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70CCCA5-FF07-3E49-BCA2-619E38AACD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-78831"/>
            <a:ext cx="7552944" cy="557784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46140"/>
            <a:ext cx="4038600" cy="3394472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7344" y="946356"/>
            <a:ext cx="4038600" cy="3394472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394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Images or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A56CC22-FD07-7A4D-847A-EADD8CC518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-78830"/>
            <a:ext cx="7556938" cy="557784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147379" y="814771"/>
            <a:ext cx="7539420" cy="3547021"/>
          </a:xfrm>
        </p:spPr>
        <p:txBody>
          <a:bodyPr>
            <a:no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06183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Content_No Gray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161795-AF74-6141-B77F-64153FAB4A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4371" y="-78830"/>
            <a:ext cx="7548179" cy="56055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1147379" y="814771"/>
            <a:ext cx="7539420" cy="3547021"/>
          </a:xfrm>
        </p:spPr>
        <p:txBody>
          <a:bodyPr>
            <a:no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48318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Content_No Bottom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0254D4-82EE-7743-8DC5-A96F5C6799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44371" y="-78830"/>
            <a:ext cx="7548179" cy="56055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7379" y="814771"/>
            <a:ext cx="7539420" cy="3547021"/>
          </a:xfrm>
        </p:spPr>
        <p:txBody>
          <a:bodyPr>
            <a:no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151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9A03A33-EFE2-8C43-836B-41753232C6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805778" y="1"/>
            <a:ext cx="7548179" cy="560552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814537" y="814771"/>
            <a:ext cx="7539420" cy="3547021"/>
          </a:xfrm>
        </p:spPr>
        <p:txBody>
          <a:bodyPr>
            <a:no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6337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alphaModFix amt="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8B0A6C-EF38-9441-ADBF-8FE45FA6C46E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032D76-6BE4-154B-A130-37D069E4235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 userDrawn="1"/>
        </p:nvSpPr>
        <p:spPr>
          <a:xfrm>
            <a:off x="457200" y="210636"/>
            <a:ext cx="8229600" cy="560552"/>
          </a:xfrm>
          <a:prstGeom prst="rect">
            <a:avLst/>
          </a:prstGeom>
        </p:spPr>
        <p:txBody>
          <a:bodyPr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37476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  <p:sldLayoutId id="2147483655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ust-lang.org/tools/instal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.rust-lang.org/std/index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y.rust-lang.org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38809" y="184354"/>
            <a:ext cx="5289902" cy="931873"/>
          </a:xfrm>
        </p:spPr>
        <p:txBody>
          <a:bodyPr/>
          <a:lstStyle/>
          <a:p>
            <a:r>
              <a:rPr lang="en-US" sz="3400" dirty="0">
                <a:solidFill>
                  <a:schemeClr val="bg1"/>
                </a:solidFill>
              </a:rPr>
              <a:t>Getting Started with Rust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58FE4899-46EA-4D85-B506-C969501309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8810" y="982981"/>
            <a:ext cx="5289902" cy="3351559"/>
          </a:xfrm>
        </p:spPr>
        <p:txBody>
          <a:bodyPr>
            <a:normAutofit/>
          </a:bodyPr>
          <a:lstStyle/>
          <a:p>
            <a:pPr marL="449263" indent="-393700">
              <a:buFont typeface="+mj-lt"/>
              <a:buAutoNum type="arabicPeriod"/>
              <a:tabLst>
                <a:tab pos="268288" algn="l"/>
              </a:tabLst>
            </a:pPr>
            <a:r>
              <a:rPr lang="en-GB" sz="2200" dirty="0"/>
              <a:t>Setting the scene</a:t>
            </a:r>
          </a:p>
          <a:p>
            <a:pPr marL="449263" indent="-393700">
              <a:buFont typeface="+mj-lt"/>
              <a:buAutoNum type="arabicPeriod"/>
              <a:tabLst>
                <a:tab pos="268288" algn="l"/>
              </a:tabLst>
            </a:pPr>
            <a:r>
              <a:rPr lang="en-GB" sz="2200" dirty="0"/>
              <a:t>Hello World in Rust</a:t>
            </a:r>
          </a:p>
          <a:p>
            <a:pPr marL="449263" indent="-393700">
              <a:buFont typeface="+mj-lt"/>
              <a:buAutoNum type="arabicPeriod"/>
              <a:tabLst>
                <a:tab pos="268288" algn="l"/>
              </a:tabLst>
            </a:pPr>
            <a:r>
              <a:rPr lang="en-GB" sz="2200" dirty="0"/>
              <a:t>Using Cargo</a:t>
            </a:r>
          </a:p>
          <a:p>
            <a:pPr marL="569913" indent="-514350">
              <a:buFont typeface="+mj-lt"/>
              <a:buAutoNum type="arabicPeriod"/>
              <a:tabLst>
                <a:tab pos="268288" algn="l"/>
              </a:tabLst>
            </a:pPr>
            <a:endParaRPr lang="en-GB" sz="2200" dirty="0"/>
          </a:p>
          <a:p>
            <a:pPr marL="569913" indent="-514350">
              <a:buFont typeface="+mj-lt"/>
              <a:buAutoNum type="arabicPeriod"/>
              <a:tabLst>
                <a:tab pos="268288" algn="l"/>
              </a:tabLst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005480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38809" y="184354"/>
            <a:ext cx="5289902" cy="93187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1. Setting the Scene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CAD8C79-36E9-4E8D-A975-AF8D5152AA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8810" y="982981"/>
            <a:ext cx="5289902" cy="3351559"/>
          </a:xfrm>
        </p:spPr>
        <p:txBody>
          <a:bodyPr>
            <a:normAutofit/>
          </a:bodyPr>
          <a:lstStyle/>
          <a:p>
            <a:pPr marL="446088" indent="-390525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What is Rust?</a:t>
            </a:r>
          </a:p>
          <a:p>
            <a:pPr marL="446088" indent="-390525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Installing Rust</a:t>
            </a:r>
          </a:p>
          <a:p>
            <a:pPr marL="446088" indent="-390525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Verifying Rust installation</a:t>
            </a:r>
          </a:p>
        </p:txBody>
      </p:sp>
    </p:spTree>
    <p:extLst>
      <p:ext uri="{BB962C8B-B14F-4D97-AF65-F5344CB8AC3E}">
        <p14:creationId xmlns:p14="http://schemas.microsoft.com/office/powerpoint/2010/main" val="4013197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/>
              <a:t>What is Rust?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Rust is a flexible and fast programming language</a:t>
            </a:r>
          </a:p>
          <a:p>
            <a:pPr lvl="1"/>
            <a:r>
              <a:rPr lang="en-GB" dirty="0"/>
              <a:t>Combines power/speed with rigour/safety</a:t>
            </a:r>
          </a:p>
          <a:p>
            <a:pPr lvl="1"/>
            <a:endParaRPr lang="en-GB" dirty="0"/>
          </a:p>
          <a:p>
            <a:r>
              <a:rPr lang="en-GB" dirty="0"/>
              <a:t>You can use Rust to create all kinds of application</a:t>
            </a:r>
          </a:p>
          <a:p>
            <a:pPr lvl="1"/>
            <a:r>
              <a:rPr lang="en-GB" dirty="0"/>
              <a:t>Low-level systems programming</a:t>
            </a:r>
          </a:p>
          <a:p>
            <a:pPr lvl="1"/>
            <a:r>
              <a:rPr lang="en-GB" dirty="0"/>
              <a:t>High-level business applications</a:t>
            </a:r>
          </a:p>
          <a:p>
            <a:pPr lvl="1"/>
            <a:r>
              <a:rPr lang="en-GB" dirty="0"/>
              <a:t>Toolsets (e.g. operating systems, DevOps operators, etc.)</a:t>
            </a:r>
          </a:p>
          <a:p>
            <a:pPr lvl="1"/>
            <a:r>
              <a:rPr lang="en-GB" dirty="0"/>
              <a:t>Products (e.g. much of Firefox is written in Rust)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790DF0-56F5-4575-92B8-F4404AF7EE96}"/>
              </a:ext>
            </a:extLst>
          </p:cNvPr>
          <p:cNvSpPr txBox="1">
            <a:spLocks/>
          </p:cNvSpPr>
          <p:nvPr/>
        </p:nvSpPr>
        <p:spPr bwMode="auto">
          <a:xfrm>
            <a:off x="8576156" y="4630835"/>
            <a:ext cx="52050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ctr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20D3A3B2-EA16-4B4A-AE9A-D51E3039C102}" type="slidenum">
              <a:rPr lang="en-GB" smtClean="0">
                <a:solidFill>
                  <a:srgbClr val="1F497D"/>
                </a:solidFill>
                <a:latin typeface="Calibri"/>
              </a:rPr>
              <a:pPr>
                <a:defRPr/>
              </a:pPr>
              <a:t>3</a:t>
            </a:fld>
            <a:endParaRPr lang="en-GB" dirty="0">
              <a:solidFill>
                <a:srgbClr val="1F497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60879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Installing Rust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To install Rust on Linux or macOS:</a:t>
            </a:r>
          </a:p>
          <a:p>
            <a:pPr lvl="1"/>
            <a:r>
              <a:rPr lang="en-GB" dirty="0"/>
              <a:t>Run the following command in a Terminal window</a:t>
            </a:r>
          </a:p>
          <a:p>
            <a:pPr lvl="1"/>
            <a:r>
              <a:rPr lang="en-GB" dirty="0"/>
              <a:t>Installs </a:t>
            </a:r>
            <a:r>
              <a:rPr lang="en-GB" b="1" dirty="0" err="1"/>
              <a:t>rustup</a:t>
            </a:r>
            <a:r>
              <a:rPr lang="en-GB" dirty="0"/>
              <a:t>,</a:t>
            </a:r>
            <a:r>
              <a:rPr lang="en-GB" b="1" dirty="0"/>
              <a:t> </a:t>
            </a:r>
            <a:r>
              <a:rPr lang="en-GB" dirty="0"/>
              <a:t>which then installs latest stable version of Rust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r>
              <a:rPr lang="en-GB" dirty="0"/>
              <a:t>To install Rust on Windows: </a:t>
            </a:r>
          </a:p>
          <a:p>
            <a:pPr lvl="1"/>
            <a:r>
              <a:rPr lang="en-GB" dirty="0"/>
              <a:t>See </a:t>
            </a:r>
            <a:r>
              <a:rPr lang="en-GB" dirty="0">
                <a:hlinkClick r:id="rId3"/>
              </a:rPr>
              <a:t>https://www.rust-lang.org/tools/install</a:t>
            </a:r>
            <a:endParaRPr lang="en-GB" dirty="0"/>
          </a:p>
          <a:p>
            <a:pPr lvl="1"/>
            <a:r>
              <a:rPr lang="en-GB" dirty="0"/>
              <a:t>You'll also need the C++ build tools for VS 2013 or later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A00BBD0D-3E35-4F33-B681-AA2CC230399E}"/>
              </a:ext>
            </a:extLst>
          </p:cNvPr>
          <p:cNvSpPr txBox="1">
            <a:spLocks/>
          </p:cNvSpPr>
          <p:nvPr/>
        </p:nvSpPr>
        <p:spPr bwMode="auto">
          <a:xfrm>
            <a:off x="8576156" y="4630835"/>
            <a:ext cx="52050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ctr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20D3A3B2-EA16-4B4A-AE9A-D51E3039C102}" type="slidenum">
              <a:rPr lang="en-GB" smtClean="0">
                <a:solidFill>
                  <a:srgbClr val="1F497D"/>
                </a:solidFill>
                <a:latin typeface="Calibri"/>
              </a:rPr>
              <a:pPr>
                <a:defRPr/>
              </a:pPr>
              <a:t>4</a:t>
            </a:fld>
            <a:endParaRPr lang="en-GB" dirty="0">
              <a:solidFill>
                <a:srgbClr val="1F497D"/>
              </a:solidFill>
              <a:latin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AEE175-E9FC-463A-AEC4-FDBC1D96A131}"/>
              </a:ext>
            </a:extLst>
          </p:cNvPr>
          <p:cNvSpPr txBox="1"/>
          <p:nvPr/>
        </p:nvSpPr>
        <p:spPr>
          <a:xfrm>
            <a:off x="1597468" y="1980079"/>
            <a:ext cx="6285870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GB" sz="1200" b="0" i="0" u="none" strike="noStrike" baseline="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curl --proto '=</a:t>
            </a:r>
            <a:r>
              <a:rPr lang="en-GB" sz="1200" b="0" i="0" u="none" strike="noStrike" baseline="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https'</a:t>
            </a:r>
            <a:r>
              <a:rPr lang="en-GB" sz="1200" b="0" i="0" u="none" strike="noStrike" baseline="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--tlsv1.2 https://sh.rustup.rs -</a:t>
            </a:r>
            <a:r>
              <a:rPr lang="en-GB" sz="1200" b="0" i="0" u="none" strike="noStrike" baseline="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sSf</a:t>
            </a:r>
            <a:r>
              <a:rPr lang="en-GB" sz="1200" b="0" i="0" u="none" strike="noStrike" baseline="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| </a:t>
            </a:r>
            <a:r>
              <a:rPr lang="en-GB" sz="1200" b="0" i="0" u="none" strike="noStrike" baseline="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</a:t>
            </a:r>
            <a:endParaRPr lang="en-GB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2607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Verifying Rust Installation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To verify Rust installation:</a:t>
            </a:r>
          </a:p>
          <a:p>
            <a:pPr lvl="1"/>
            <a:r>
              <a:rPr lang="en-GB" dirty="0"/>
              <a:t>Run the following command in a Terminal window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A00BBD0D-3E35-4F33-B681-AA2CC230399E}"/>
              </a:ext>
            </a:extLst>
          </p:cNvPr>
          <p:cNvSpPr txBox="1">
            <a:spLocks/>
          </p:cNvSpPr>
          <p:nvPr/>
        </p:nvSpPr>
        <p:spPr bwMode="auto">
          <a:xfrm>
            <a:off x="8576156" y="4630835"/>
            <a:ext cx="52050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ctr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20D3A3B2-EA16-4B4A-AE9A-D51E3039C102}" type="slidenum">
              <a:rPr lang="en-GB" smtClean="0">
                <a:solidFill>
                  <a:srgbClr val="1F497D"/>
                </a:solidFill>
                <a:latin typeface="Calibri"/>
              </a:rPr>
              <a:pPr>
                <a:defRPr/>
              </a:pPr>
              <a:t>5</a:t>
            </a:fld>
            <a:endParaRPr lang="en-GB" dirty="0">
              <a:solidFill>
                <a:srgbClr val="1F497D"/>
              </a:solidFill>
              <a:latin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AEE175-E9FC-463A-AEC4-FDBC1D96A131}"/>
              </a:ext>
            </a:extLst>
          </p:cNvPr>
          <p:cNvSpPr txBox="1"/>
          <p:nvPr/>
        </p:nvSpPr>
        <p:spPr>
          <a:xfrm>
            <a:off x="1597468" y="1583391"/>
            <a:ext cx="4463498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GB" sz="1200" b="0" i="0" u="none" strike="noStrike" baseline="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rustc</a:t>
            </a:r>
            <a:r>
              <a:rPr lang="en-GB" sz="1200" b="0" i="0" u="none" strike="noStrike" baseline="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--version</a:t>
            </a:r>
            <a:endParaRPr lang="en-GB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45BD3BFF-D823-4D11-980F-A67F38151477}"/>
              </a:ext>
            </a:extLst>
          </p:cNvPr>
          <p:cNvSpPr/>
          <p:nvPr/>
        </p:nvSpPr>
        <p:spPr>
          <a:xfrm>
            <a:off x="1838881" y="1906120"/>
            <a:ext cx="393326" cy="346261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DB9995-1643-DF27-3D22-95CCEA937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7468" y="2298111"/>
            <a:ext cx="4474469" cy="152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68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38809" y="184354"/>
            <a:ext cx="5289902" cy="93187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2. Hello World in Rust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38810" y="982981"/>
            <a:ext cx="5289902" cy="3467099"/>
          </a:xfrm>
        </p:spPr>
        <p:txBody>
          <a:bodyPr>
            <a:normAutofit/>
          </a:bodyPr>
          <a:lstStyle/>
          <a:p>
            <a:pPr marL="446088" indent="-390525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400" dirty="0"/>
              <a:t>Writing a simple application</a:t>
            </a:r>
          </a:p>
          <a:p>
            <a:pPr marL="446088" indent="-390525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400" dirty="0"/>
              <a:t>Formatting the code</a:t>
            </a:r>
          </a:p>
          <a:p>
            <a:pPr marL="446088" indent="-390525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400" dirty="0"/>
              <a:t>Building the application</a:t>
            </a:r>
          </a:p>
          <a:p>
            <a:pPr marL="446088" indent="-390525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400" dirty="0"/>
              <a:t>Running the application</a:t>
            </a:r>
          </a:p>
          <a:p>
            <a:pPr marL="446088" indent="-390525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400" dirty="0"/>
              <a:t>Aside: Using the Rust Playground</a:t>
            </a:r>
          </a:p>
        </p:txBody>
      </p:sp>
    </p:spTree>
    <p:extLst>
      <p:ext uri="{BB962C8B-B14F-4D97-AF65-F5344CB8AC3E}">
        <p14:creationId xmlns:p14="http://schemas.microsoft.com/office/powerpoint/2010/main" val="4008555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/>
              <a:t>Writing a Simple Application</a:t>
            </a:r>
            <a:endParaRPr lang="en-GB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Here's the traditional 'hello world' application in Rust</a:t>
            </a:r>
            <a:endParaRPr lang="en-GB" sz="1800" dirty="0"/>
          </a:p>
          <a:p>
            <a:endParaRPr lang="en-GB" dirty="0"/>
          </a:p>
          <a:p>
            <a:endParaRPr lang="en-GB" dirty="0"/>
          </a:p>
          <a:p>
            <a:pPr lvl="1"/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main()</a:t>
            </a:r>
            <a:r>
              <a:rPr lang="en-GB" dirty="0"/>
              <a:t> is the entry-point function in a Rust executable</a:t>
            </a:r>
          </a:p>
          <a:p>
            <a:pPr lvl="1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println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en-GB" dirty="0"/>
              <a:t> calls a macro (for info, search for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macro_rules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Semicolons are required to separate statements</a:t>
            </a:r>
          </a:p>
          <a:p>
            <a:pPr lvl="1"/>
            <a:endParaRPr lang="en-GB" dirty="0"/>
          </a:p>
          <a:p>
            <a:r>
              <a:rPr lang="en-GB" dirty="0"/>
              <a:t>For detailed Rust documentation, see:</a:t>
            </a:r>
          </a:p>
          <a:p>
            <a:pPr lvl="1"/>
            <a:r>
              <a:rPr lang="en-GB" dirty="0">
                <a:hlinkClick r:id="rId3"/>
              </a:rPr>
              <a:t>https://doc.rust-lang.org/std/index.html</a:t>
            </a:r>
            <a:r>
              <a:rPr lang="en-GB" dirty="0"/>
              <a:t> 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613A6C43-B2BD-4724-B676-FE3AE48C5302}"/>
              </a:ext>
            </a:extLst>
          </p:cNvPr>
          <p:cNvSpPr txBox="1">
            <a:spLocks/>
          </p:cNvSpPr>
          <p:nvPr/>
        </p:nvSpPr>
        <p:spPr bwMode="auto">
          <a:xfrm>
            <a:off x="8576156" y="4630835"/>
            <a:ext cx="52050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ctr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20D3A3B2-EA16-4B4A-AE9A-D51E3039C102}" type="slidenum">
              <a:rPr lang="en-GB" smtClean="0">
                <a:solidFill>
                  <a:srgbClr val="1F497D"/>
                </a:solidFill>
                <a:latin typeface="Calibri"/>
              </a:rPr>
              <a:pPr>
                <a:defRPr/>
              </a:pPr>
              <a:t>7</a:t>
            </a:fld>
            <a:endParaRPr lang="en-GB" dirty="0">
              <a:solidFill>
                <a:srgbClr val="1F497D"/>
              </a:solidFill>
              <a:latin typeface="Calibri"/>
            </a:endParaRP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0E0D24FF-D6D0-4157-8859-1C24403EDF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7468" y="1230980"/>
            <a:ext cx="6168208" cy="623730"/>
          </a:xfrm>
          <a:prstGeom prst="rect">
            <a:avLst/>
          </a:prstGeom>
          <a:solidFill>
            <a:srgbClr val="FFFF66"/>
          </a:solidFill>
          <a:ln>
            <a:noFill/>
          </a:ln>
          <a:effectLst>
            <a:outerShdw dist="107763" dir="2700000" algn="ctr" rotWithShape="0">
              <a:srgbClr val="FFB953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9056" tIns="34529" rIns="69056" bIns="34529" anchor="ctr">
            <a:spAutoFit/>
          </a:bodyPr>
          <a:lstStyle/>
          <a:p>
            <a:pPr defTabSz="554831"/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fn main() {</a:t>
            </a:r>
          </a:p>
          <a:p>
            <a:pPr defTabSz="554831"/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println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!("Hello, world!");</a:t>
            </a:r>
          </a:p>
          <a:p>
            <a:pPr defTabSz="554831"/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867BD3-2EE4-4963-8AFA-D2398A4E7D86}"/>
              </a:ext>
            </a:extLst>
          </p:cNvPr>
          <p:cNvSpPr txBox="1"/>
          <p:nvPr/>
        </p:nvSpPr>
        <p:spPr>
          <a:xfrm>
            <a:off x="6279510" y="1580709"/>
            <a:ext cx="14863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b="1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hello_world.rs</a:t>
            </a:r>
          </a:p>
        </p:txBody>
      </p:sp>
    </p:spTree>
    <p:extLst>
      <p:ext uri="{BB962C8B-B14F-4D97-AF65-F5344CB8AC3E}">
        <p14:creationId xmlns:p14="http://schemas.microsoft.com/office/powerpoint/2010/main" val="1587890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/>
              <a:t>Formatting the Code</a:t>
            </a:r>
            <a:endParaRPr lang="en-GB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You can use the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rustfmt</a:t>
            </a:r>
            <a:r>
              <a:rPr lang="en-GB" dirty="0"/>
              <a:t> tool to format your code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r>
              <a:rPr lang="en-GB" dirty="0"/>
              <a:t>What does it do?</a:t>
            </a:r>
          </a:p>
          <a:p>
            <a:pPr lvl="1"/>
            <a:r>
              <a:rPr lang="en-GB" dirty="0"/>
              <a:t>Replaces tabs with 4 spaces</a:t>
            </a:r>
          </a:p>
          <a:p>
            <a:pPr lvl="1"/>
            <a:r>
              <a:rPr lang="en-GB" dirty="0"/>
              <a:t>Eliminates spurious whitespace</a:t>
            </a:r>
          </a:p>
          <a:p>
            <a:pPr lvl="1"/>
            <a:r>
              <a:rPr lang="en-GB" dirty="0"/>
              <a:t>Arranges curly brackets according to Rust best practice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613A6C43-B2BD-4724-B676-FE3AE48C5302}"/>
              </a:ext>
            </a:extLst>
          </p:cNvPr>
          <p:cNvSpPr txBox="1">
            <a:spLocks/>
          </p:cNvSpPr>
          <p:nvPr/>
        </p:nvSpPr>
        <p:spPr bwMode="auto">
          <a:xfrm>
            <a:off x="8576156" y="4630835"/>
            <a:ext cx="52050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ctr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20D3A3B2-EA16-4B4A-AE9A-D51E3039C102}" type="slidenum">
              <a:rPr lang="en-GB" smtClean="0">
                <a:solidFill>
                  <a:srgbClr val="1F497D"/>
                </a:solidFill>
                <a:latin typeface="Calibri"/>
              </a:rPr>
              <a:pPr>
                <a:defRPr/>
              </a:pPr>
              <a:t>8</a:t>
            </a:fld>
            <a:endParaRPr lang="en-GB" dirty="0">
              <a:solidFill>
                <a:srgbClr val="1F497D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4AACD0-63E5-4969-AC61-BB261C539522}"/>
              </a:ext>
            </a:extLst>
          </p:cNvPr>
          <p:cNvSpPr txBox="1"/>
          <p:nvPr/>
        </p:nvSpPr>
        <p:spPr>
          <a:xfrm>
            <a:off x="1597468" y="1206873"/>
            <a:ext cx="6242167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GB" sz="1200" b="0" i="0" u="none" strike="noStrike" baseline="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rustfmt</a:t>
            </a:r>
            <a:r>
              <a:rPr lang="en-GB" sz="1200" b="0" i="0" u="none" strike="noStrike" baseline="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hello_world.rs</a:t>
            </a:r>
            <a:endParaRPr lang="en-GB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826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/>
              <a:t>Building the Application</a:t>
            </a:r>
            <a:endParaRPr lang="en-GB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To build the app, you can use the Rust compiler as follows: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r>
              <a:rPr lang="en-GB" dirty="0"/>
              <a:t>What does it do?</a:t>
            </a:r>
          </a:p>
          <a:p>
            <a:pPr lvl="1"/>
            <a:r>
              <a:rPr lang="en-GB" dirty="0"/>
              <a:t>Generates an executable (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.exe</a:t>
            </a:r>
            <a:r>
              <a:rPr lang="en-GB" dirty="0"/>
              <a:t> file extension in Windows)</a:t>
            </a:r>
          </a:p>
          <a:p>
            <a:pPr lvl="1"/>
            <a:r>
              <a:rPr lang="en-GB" dirty="0"/>
              <a:t>In Windows, also generates a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pdb</a:t>
            </a:r>
            <a:r>
              <a:rPr lang="en-GB" dirty="0"/>
              <a:t> file (contains debug info)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613A6C43-B2BD-4724-B676-FE3AE48C5302}"/>
              </a:ext>
            </a:extLst>
          </p:cNvPr>
          <p:cNvSpPr txBox="1">
            <a:spLocks/>
          </p:cNvSpPr>
          <p:nvPr/>
        </p:nvSpPr>
        <p:spPr bwMode="auto">
          <a:xfrm>
            <a:off x="8576156" y="4630835"/>
            <a:ext cx="52050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ctr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20D3A3B2-EA16-4B4A-AE9A-D51E3039C102}" type="slidenum">
              <a:rPr lang="en-GB" smtClean="0">
                <a:solidFill>
                  <a:srgbClr val="1F497D"/>
                </a:solidFill>
                <a:latin typeface="Calibri"/>
              </a:rPr>
              <a:pPr>
                <a:defRPr/>
              </a:pPr>
              <a:t>9</a:t>
            </a:fld>
            <a:endParaRPr lang="en-GB" dirty="0">
              <a:solidFill>
                <a:srgbClr val="1F497D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4AACD0-63E5-4969-AC61-BB261C539522}"/>
              </a:ext>
            </a:extLst>
          </p:cNvPr>
          <p:cNvSpPr txBox="1"/>
          <p:nvPr/>
        </p:nvSpPr>
        <p:spPr>
          <a:xfrm>
            <a:off x="1597468" y="1206873"/>
            <a:ext cx="6809553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GB" sz="1200" b="0" i="0" u="none" strike="noStrike" baseline="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rustc</a:t>
            </a:r>
            <a:r>
              <a:rPr lang="en-GB" sz="1200" b="0" i="0" u="none" strike="noStrike" baseline="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hello_world.rs</a:t>
            </a:r>
            <a:endParaRPr lang="en-GB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4771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090824" y="-78830"/>
            <a:ext cx="7548179" cy="560552"/>
          </a:xfrm>
        </p:spPr>
        <p:txBody>
          <a:bodyPr/>
          <a:lstStyle/>
          <a:p>
            <a:pPr marL="55563">
              <a:tabLst>
                <a:tab pos="446088" algn="l"/>
              </a:tabLst>
            </a:pPr>
            <a:r>
              <a:rPr lang="en-GB" dirty="0"/>
              <a:t>Running the Application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To run the application on Linux or macOS: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r>
              <a:rPr lang="en-GB" dirty="0"/>
              <a:t>To run the application on Windows: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04A43142-4953-413F-B83B-E21F05B487D3}"/>
              </a:ext>
            </a:extLst>
          </p:cNvPr>
          <p:cNvSpPr txBox="1">
            <a:spLocks/>
          </p:cNvSpPr>
          <p:nvPr/>
        </p:nvSpPr>
        <p:spPr bwMode="auto">
          <a:xfrm>
            <a:off x="8576156" y="4630835"/>
            <a:ext cx="52050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ctr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20D3A3B2-EA16-4B4A-AE9A-D51E3039C102}" type="slidenum">
              <a:rPr lang="en-GB" smtClean="0">
                <a:solidFill>
                  <a:srgbClr val="1F497D"/>
                </a:solidFill>
                <a:latin typeface="Calibri"/>
              </a:rPr>
              <a:pPr>
                <a:defRPr/>
              </a:pPr>
              <a:t>10</a:t>
            </a:fld>
            <a:endParaRPr lang="en-GB" dirty="0">
              <a:solidFill>
                <a:srgbClr val="1F497D"/>
              </a:solidFill>
              <a:latin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9A410F-989D-4704-A378-776D30541786}"/>
              </a:ext>
            </a:extLst>
          </p:cNvPr>
          <p:cNvSpPr txBox="1"/>
          <p:nvPr/>
        </p:nvSpPr>
        <p:spPr>
          <a:xfrm>
            <a:off x="1597468" y="1206873"/>
            <a:ext cx="6242167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GB" sz="1200" b="0" i="0" u="none" strike="noStrike" baseline="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./</a:t>
            </a:r>
            <a:r>
              <a:rPr lang="en-GB" sz="1200" b="0" i="0" u="none" strike="noStrike" baseline="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hello_world</a:t>
            </a:r>
            <a:endParaRPr lang="en-GB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AB64BA-7493-40F5-81ED-409F519D087B}"/>
              </a:ext>
            </a:extLst>
          </p:cNvPr>
          <p:cNvSpPr txBox="1"/>
          <p:nvPr/>
        </p:nvSpPr>
        <p:spPr>
          <a:xfrm>
            <a:off x="1597468" y="2361079"/>
            <a:ext cx="6242167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GB" sz="1200" b="0" i="0" u="none" strike="noStrike" baseline="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.\hello_world.exe</a:t>
            </a:r>
            <a:endParaRPr lang="en-GB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7001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090824" y="-78830"/>
            <a:ext cx="7548179" cy="560552"/>
          </a:xfrm>
        </p:spPr>
        <p:txBody>
          <a:bodyPr/>
          <a:lstStyle/>
          <a:p>
            <a:pPr marL="55563">
              <a:tabLst>
                <a:tab pos="446088" algn="l"/>
              </a:tabLst>
            </a:pPr>
            <a:r>
              <a:rPr lang="en-GB" sz="3600" dirty="0"/>
              <a:t>Aside: Using the Rust Playground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Rust Playground is a handy online site you can use to practise your Rust syntax - go to </a:t>
            </a:r>
            <a:r>
              <a:rPr lang="en-GB" dirty="0">
                <a:hlinkClick r:id="rId3"/>
              </a:rPr>
              <a:t>https://play.rust-lang.org/</a:t>
            </a:r>
            <a:r>
              <a:rPr lang="en-GB" dirty="0"/>
              <a:t> 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04A43142-4953-413F-B83B-E21F05B487D3}"/>
              </a:ext>
            </a:extLst>
          </p:cNvPr>
          <p:cNvSpPr txBox="1">
            <a:spLocks/>
          </p:cNvSpPr>
          <p:nvPr/>
        </p:nvSpPr>
        <p:spPr bwMode="auto">
          <a:xfrm>
            <a:off x="8576156" y="4630835"/>
            <a:ext cx="52050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ctr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20D3A3B2-EA16-4B4A-AE9A-D51E3039C102}" type="slidenum">
              <a:rPr lang="en-GB" smtClean="0">
                <a:solidFill>
                  <a:srgbClr val="1F497D"/>
                </a:solidFill>
                <a:latin typeface="Calibri"/>
              </a:rPr>
              <a:pPr>
                <a:defRPr/>
              </a:pPr>
              <a:t>11</a:t>
            </a:fld>
            <a:endParaRPr lang="en-GB" dirty="0">
              <a:solidFill>
                <a:srgbClr val="1F497D"/>
              </a:solidFill>
              <a:latin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04F575-1C75-4BC5-969D-4E46C29AF1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4664" y="1600857"/>
            <a:ext cx="6592338" cy="3424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105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38809" y="184354"/>
            <a:ext cx="5289902" cy="93187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3. Using Cargo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71E00C7-7DB2-4529-B6CA-F4DCF4E1D0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8810" y="982981"/>
            <a:ext cx="5289902" cy="3351559"/>
          </a:xfrm>
        </p:spPr>
        <p:txBody>
          <a:bodyPr>
            <a:normAutofit/>
          </a:bodyPr>
          <a:lstStyle/>
          <a:p>
            <a:pPr marL="446088" indent="-390525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What is Cargo?</a:t>
            </a:r>
          </a:p>
          <a:p>
            <a:pPr marL="446088" indent="-390525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Creating a new application using Cargo</a:t>
            </a:r>
          </a:p>
          <a:p>
            <a:pPr marL="446088" indent="-390525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Reviewing the </a:t>
            </a:r>
            <a:r>
              <a:rPr lang="en-GB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GB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toml</a:t>
            </a:r>
            <a:r>
              <a:rPr lang="en-GB" sz="2200" dirty="0"/>
              <a:t> file</a:t>
            </a:r>
          </a:p>
          <a:p>
            <a:pPr marL="446088" indent="-390525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Reviewing the source code</a:t>
            </a:r>
          </a:p>
          <a:p>
            <a:pPr marL="446088" indent="-390525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Building/running in dev mode</a:t>
            </a:r>
          </a:p>
          <a:p>
            <a:pPr marL="446088" indent="-390525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Building/running in release mode</a:t>
            </a:r>
          </a:p>
          <a:p>
            <a:pPr marL="446088" indent="-390525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Additional Cargo techniques</a:t>
            </a:r>
          </a:p>
          <a:p>
            <a:pPr marL="446088" indent="-390525">
              <a:buFont typeface="Arial" panose="020B0604020202020204" pitchFamily="34" charset="0"/>
              <a:buChar char="•"/>
              <a:tabLst>
                <a:tab pos="446088" algn="l"/>
              </a:tabLst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6110395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026"/>
          <p:cNvSpPr>
            <a:spLocks noChangeArrowheads="1"/>
          </p:cNvSpPr>
          <p:nvPr/>
        </p:nvSpPr>
        <p:spPr bwMode="auto">
          <a:xfrm>
            <a:off x="1678782" y="4669631"/>
            <a:ext cx="1394222" cy="386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075" name="Rectangle 1027"/>
          <p:cNvSpPr>
            <a:spLocks noChangeArrowheads="1"/>
          </p:cNvSpPr>
          <p:nvPr/>
        </p:nvSpPr>
        <p:spPr bwMode="auto">
          <a:xfrm>
            <a:off x="3487341" y="4669631"/>
            <a:ext cx="2169319" cy="386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076" name="Rectangle 102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>
                <a:cs typeface="Times New Roman" pitchFamily="18" charset="0"/>
              </a:rPr>
              <a:t>What is Cargo?</a:t>
            </a:r>
            <a:endParaRPr lang="en-GB" dirty="0"/>
          </a:p>
        </p:txBody>
      </p:sp>
      <p:sp>
        <p:nvSpPr>
          <p:cNvPr id="3077" name="Rectangle 1030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dirty="0"/>
              <a:t>Cargo is the Rust package manager and build system</a:t>
            </a:r>
          </a:p>
          <a:p>
            <a:pPr lvl="1"/>
            <a:r>
              <a:rPr lang="en-GB" dirty="0"/>
              <a:t>Part of the standard Rust toolset</a:t>
            </a:r>
          </a:p>
          <a:p>
            <a:pPr lvl="1"/>
            <a:endParaRPr lang="en-GB" dirty="0"/>
          </a:p>
          <a:p>
            <a:pPr eaLnBrk="1" hangingPunct="1"/>
            <a:r>
              <a:rPr lang="en-GB" dirty="0"/>
              <a:t>In practice, you'll </a:t>
            </a:r>
            <a:r>
              <a:rPr lang="en-GB"/>
              <a:t>always use </a:t>
            </a:r>
            <a:r>
              <a:rPr lang="en-GB" dirty="0"/>
              <a:t>Cargo to create, manage, and build your Rust applications</a:t>
            </a:r>
          </a:p>
          <a:p>
            <a:pPr lvl="1"/>
            <a:r>
              <a:rPr lang="en-GB" dirty="0"/>
              <a:t>Consistency</a:t>
            </a:r>
          </a:p>
          <a:p>
            <a:pPr lvl="1"/>
            <a:r>
              <a:rPr lang="en-GB" dirty="0"/>
              <a:t>Nudges you towards best practice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EEB95235-1633-4642-B226-8113B6021091}"/>
              </a:ext>
            </a:extLst>
          </p:cNvPr>
          <p:cNvSpPr txBox="1">
            <a:spLocks/>
          </p:cNvSpPr>
          <p:nvPr/>
        </p:nvSpPr>
        <p:spPr bwMode="auto">
          <a:xfrm>
            <a:off x="8576156" y="4630835"/>
            <a:ext cx="52050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ctr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20D3A3B2-EA16-4B4A-AE9A-D51E3039C102}" type="slidenum">
              <a:rPr lang="en-GB" smtClean="0">
                <a:solidFill>
                  <a:srgbClr val="1F497D"/>
                </a:solidFill>
                <a:latin typeface="Calibri"/>
              </a:rPr>
              <a:pPr>
                <a:defRPr/>
              </a:pPr>
              <a:t>13</a:t>
            </a:fld>
            <a:endParaRPr lang="en-GB" dirty="0">
              <a:solidFill>
                <a:srgbClr val="1F497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73463252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026"/>
          <p:cNvSpPr>
            <a:spLocks noChangeArrowheads="1"/>
          </p:cNvSpPr>
          <p:nvPr/>
        </p:nvSpPr>
        <p:spPr bwMode="auto">
          <a:xfrm>
            <a:off x="1678782" y="4669631"/>
            <a:ext cx="1394222" cy="386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075" name="Rectangle 1027"/>
          <p:cNvSpPr>
            <a:spLocks noChangeArrowheads="1"/>
          </p:cNvSpPr>
          <p:nvPr/>
        </p:nvSpPr>
        <p:spPr bwMode="auto">
          <a:xfrm>
            <a:off x="3487341" y="4669631"/>
            <a:ext cx="2169319" cy="386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076" name="Rectangle 102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600" dirty="0"/>
              <a:t>Creating a New Application using Cargo</a:t>
            </a:r>
            <a:endParaRPr lang="en-GB" dirty="0"/>
          </a:p>
        </p:txBody>
      </p:sp>
      <p:sp>
        <p:nvSpPr>
          <p:cNvPr id="3077" name="Rectangle 1030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You can use Cargo to create a new Rust application: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r>
              <a:rPr lang="en-GB" dirty="0"/>
              <a:t>Creates a new directory for your application, containing:</a:t>
            </a:r>
          </a:p>
          <a:p>
            <a:pPr lvl="1"/>
            <a:endParaRPr lang="en-GB" dirty="0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A3A708B6-89B3-48E4-AC7E-FC65BA45368C}"/>
              </a:ext>
            </a:extLst>
          </p:cNvPr>
          <p:cNvSpPr txBox="1">
            <a:spLocks/>
          </p:cNvSpPr>
          <p:nvPr/>
        </p:nvSpPr>
        <p:spPr bwMode="auto">
          <a:xfrm>
            <a:off x="8576156" y="4630835"/>
            <a:ext cx="52050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ctr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20D3A3B2-EA16-4B4A-AE9A-D51E3039C102}" type="slidenum">
              <a:rPr lang="en-GB" smtClean="0">
                <a:solidFill>
                  <a:srgbClr val="1F497D"/>
                </a:solidFill>
                <a:latin typeface="Calibri"/>
              </a:rPr>
              <a:pPr>
                <a:defRPr/>
              </a:pPr>
              <a:t>14</a:t>
            </a:fld>
            <a:endParaRPr lang="en-GB" dirty="0">
              <a:solidFill>
                <a:srgbClr val="1F497D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AFE626-B898-4EE6-9018-2A1FDBBDB94C}"/>
              </a:ext>
            </a:extLst>
          </p:cNvPr>
          <p:cNvSpPr txBox="1"/>
          <p:nvPr/>
        </p:nvSpPr>
        <p:spPr>
          <a:xfrm>
            <a:off x="1597468" y="1206873"/>
            <a:ext cx="6242167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GB" sz="1200" b="0" i="0" u="none" strike="noStrike" baseline="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cargo new </a:t>
            </a:r>
            <a:r>
              <a:rPr lang="en-GB" sz="1200" b="0" i="0" u="none" strike="noStrike" baseline="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hello_world_via_cargo</a:t>
            </a:r>
            <a:endParaRPr lang="en-GB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DFEDE9-B80C-423F-9FAB-C7F457C04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7468" y="2421870"/>
            <a:ext cx="4355166" cy="139708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127A825-D28A-47F2-B843-492F52581785}"/>
              </a:ext>
            </a:extLst>
          </p:cNvPr>
          <p:cNvSpPr txBox="1"/>
          <p:nvPr/>
        </p:nvSpPr>
        <p:spPr>
          <a:xfrm>
            <a:off x="4289610" y="3385298"/>
            <a:ext cx="1463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packaging file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7E8D27E-3985-4EBC-8498-792F786121C8}"/>
              </a:ext>
            </a:extLst>
          </p:cNvPr>
          <p:cNvCxnSpPr>
            <a:cxnSpLocks/>
          </p:cNvCxnSpPr>
          <p:nvPr/>
        </p:nvCxnSpPr>
        <p:spPr>
          <a:xfrm flipH="1">
            <a:off x="3180233" y="3597088"/>
            <a:ext cx="114972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2C799B6-1258-494B-A7C3-25878263007A}"/>
              </a:ext>
            </a:extLst>
          </p:cNvPr>
          <p:cNvSpPr txBox="1"/>
          <p:nvPr/>
        </p:nvSpPr>
        <p:spPr>
          <a:xfrm>
            <a:off x="4297454" y="2740960"/>
            <a:ext cx="1315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source code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D2D97F7-4E12-4025-AF49-8C45E89335DC}"/>
              </a:ext>
            </a:extLst>
          </p:cNvPr>
          <p:cNvCxnSpPr>
            <a:cxnSpLocks/>
          </p:cNvCxnSpPr>
          <p:nvPr/>
        </p:nvCxnSpPr>
        <p:spPr>
          <a:xfrm flipH="1">
            <a:off x="2474259" y="2951626"/>
            <a:ext cx="185569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468352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026"/>
          <p:cNvSpPr>
            <a:spLocks noChangeArrowheads="1"/>
          </p:cNvSpPr>
          <p:nvPr/>
        </p:nvSpPr>
        <p:spPr bwMode="auto">
          <a:xfrm>
            <a:off x="1678782" y="4669631"/>
            <a:ext cx="1394222" cy="386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075" name="Rectangle 1027"/>
          <p:cNvSpPr>
            <a:spLocks noChangeArrowheads="1"/>
          </p:cNvSpPr>
          <p:nvPr/>
        </p:nvSpPr>
        <p:spPr bwMode="auto">
          <a:xfrm>
            <a:off x="3487341" y="4669631"/>
            <a:ext cx="2169319" cy="386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076" name="Rectangle 1029"/>
          <p:cNvSpPr>
            <a:spLocks noGrp="1" noChangeArrowheads="1"/>
          </p:cNvSpPr>
          <p:nvPr>
            <p:ph type="title"/>
          </p:nvPr>
        </p:nvSpPr>
        <p:spPr>
          <a:xfrm>
            <a:off x="1144371" y="-58235"/>
            <a:ext cx="7548179" cy="560552"/>
          </a:xfrm>
        </p:spPr>
        <p:txBody>
          <a:bodyPr/>
          <a:lstStyle/>
          <a:p>
            <a:pPr eaLnBrk="1" hangingPunct="1"/>
            <a:r>
              <a:rPr lang="en-GB" dirty="0">
                <a:cs typeface="Times New Roman" pitchFamily="18" charset="0"/>
              </a:rPr>
              <a:t>Reviewing the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toml</a:t>
            </a:r>
            <a:r>
              <a:rPr lang="en-GB" dirty="0">
                <a:cs typeface="Times New Roman" pitchFamily="18" charset="0"/>
              </a:rPr>
              <a:t> file</a:t>
            </a:r>
            <a:endParaRPr lang="en-GB" dirty="0"/>
          </a:p>
        </p:txBody>
      </p:sp>
      <p:sp>
        <p:nvSpPr>
          <p:cNvPr id="3077" name="Rectangle 1030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dirty="0"/>
              <a:t>The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toml</a:t>
            </a:r>
            <a:r>
              <a:rPr lang="en-GB" dirty="0"/>
              <a:t> file contains:</a:t>
            </a:r>
          </a:p>
          <a:p>
            <a:pPr lvl="1"/>
            <a:r>
              <a:rPr lang="en-GB" dirty="0"/>
              <a:t>Metadata about your package (i.e. application)</a:t>
            </a:r>
          </a:p>
          <a:p>
            <a:pPr lvl="1"/>
            <a:r>
              <a:rPr lang="en-GB" dirty="0"/>
              <a:t>Any additional dependencies your application needs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r>
              <a:rPr lang="en-GB" dirty="0"/>
              <a:t>Fun fact:</a:t>
            </a:r>
          </a:p>
          <a:p>
            <a:pPr lvl="1"/>
            <a:r>
              <a:rPr lang="en-GB" dirty="0"/>
              <a:t>TOML stands for Tom's Obvious </a:t>
            </a:r>
            <a:r>
              <a:rPr lang="en-GB"/>
              <a:t>Minimal Language</a:t>
            </a:r>
            <a:endParaRPr lang="en-GB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788339B4-D28F-46FB-8E3F-9DB572926F11}"/>
              </a:ext>
            </a:extLst>
          </p:cNvPr>
          <p:cNvSpPr txBox="1">
            <a:spLocks/>
          </p:cNvSpPr>
          <p:nvPr/>
        </p:nvSpPr>
        <p:spPr bwMode="auto">
          <a:xfrm>
            <a:off x="8576156" y="4630835"/>
            <a:ext cx="52050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ctr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20D3A3B2-EA16-4B4A-AE9A-D51E3039C102}" type="slidenum">
              <a:rPr lang="en-GB" smtClean="0">
                <a:solidFill>
                  <a:srgbClr val="1F497D"/>
                </a:solidFill>
                <a:latin typeface="Calibri"/>
              </a:rPr>
              <a:pPr>
                <a:defRPr/>
              </a:pPr>
              <a:t>15</a:t>
            </a:fld>
            <a:endParaRPr lang="en-GB" dirty="0">
              <a:solidFill>
                <a:srgbClr val="1F497D"/>
              </a:solidFill>
              <a:latin typeface="Calibri"/>
            </a:endParaRPr>
          </a:p>
        </p:txBody>
      </p:sp>
      <p:sp>
        <p:nvSpPr>
          <p:cNvPr id="2" name="Rectangle 16">
            <a:extLst>
              <a:ext uri="{FF2B5EF4-FFF2-40B4-BE49-F238E27FC236}">
                <a16:creationId xmlns:a16="http://schemas.microsoft.com/office/drawing/2014/main" id="{B2257696-AE7F-472B-9A3F-22D6C396C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7468" y="1971264"/>
            <a:ext cx="6168208" cy="1200971"/>
          </a:xfrm>
          <a:prstGeom prst="rect">
            <a:avLst/>
          </a:prstGeom>
          <a:solidFill>
            <a:srgbClr val="CCFFFF"/>
          </a:solidFill>
          <a:ln>
            <a:noFill/>
          </a:ln>
          <a:effectLst>
            <a:outerShdw dist="107763" dir="2700000" algn="ctr" rotWithShape="0">
              <a:srgbClr val="00B0F0"/>
            </a:outerShdw>
          </a:effectLst>
        </p:spPr>
        <p:txBody>
          <a:bodyPr wrap="square" lIns="92075" tIns="46038" rIns="92075" bIns="46038" anchor="ctr">
            <a:spAutoFit/>
          </a:bodyPr>
          <a:lstStyle/>
          <a:p>
            <a:pPr defTabSz="739775"/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[package]</a:t>
            </a:r>
          </a:p>
          <a:p>
            <a:pPr defTabSz="739775"/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name = "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hello_world_via_cargo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 defTabSz="739775"/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version = "0.1.0"</a:t>
            </a:r>
          </a:p>
          <a:p>
            <a:pPr defTabSz="739775"/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edition = "2024"</a:t>
            </a:r>
          </a:p>
          <a:p>
            <a:pPr defTabSz="739775"/>
            <a:endParaRPr lang="en-GB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739775"/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[dependencies]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F425EE-7C46-4FE0-AF01-B0C0DDDFDDE4}"/>
              </a:ext>
            </a:extLst>
          </p:cNvPr>
          <p:cNvSpPr txBox="1"/>
          <p:nvPr/>
        </p:nvSpPr>
        <p:spPr>
          <a:xfrm>
            <a:off x="6651268" y="2895236"/>
            <a:ext cx="1114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b="1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Cargo.toml</a:t>
            </a:r>
            <a:endParaRPr lang="en-GB" sz="1200" b="1" dirty="0">
              <a:solidFill>
                <a:schemeClr val="tx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3637644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026"/>
          <p:cNvSpPr>
            <a:spLocks noChangeArrowheads="1"/>
          </p:cNvSpPr>
          <p:nvPr/>
        </p:nvSpPr>
        <p:spPr bwMode="auto">
          <a:xfrm>
            <a:off x="1678782" y="4669631"/>
            <a:ext cx="1394222" cy="386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075" name="Rectangle 1027"/>
          <p:cNvSpPr>
            <a:spLocks noChangeArrowheads="1"/>
          </p:cNvSpPr>
          <p:nvPr/>
        </p:nvSpPr>
        <p:spPr bwMode="auto">
          <a:xfrm>
            <a:off x="3487341" y="4669631"/>
            <a:ext cx="2169319" cy="386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076" name="Rectangle 102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>
                <a:cs typeface="Times New Roman" pitchFamily="18" charset="0"/>
              </a:rPr>
              <a:t>Reviewing the Source Code</a:t>
            </a:r>
            <a:endParaRPr lang="en-GB" dirty="0"/>
          </a:p>
        </p:txBody>
      </p:sp>
      <p:sp>
        <p:nvSpPr>
          <p:cNvPr id="3077" name="Rectangle 1030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dirty="0"/>
              <a:t>Here's the source code generated by Cargo: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788339B4-D28F-46FB-8E3F-9DB572926F11}"/>
              </a:ext>
            </a:extLst>
          </p:cNvPr>
          <p:cNvSpPr txBox="1">
            <a:spLocks/>
          </p:cNvSpPr>
          <p:nvPr/>
        </p:nvSpPr>
        <p:spPr bwMode="auto">
          <a:xfrm>
            <a:off x="8576156" y="4630835"/>
            <a:ext cx="52050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ctr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20D3A3B2-EA16-4B4A-AE9A-D51E3039C102}" type="slidenum">
              <a:rPr lang="en-GB" smtClean="0">
                <a:solidFill>
                  <a:srgbClr val="1F497D"/>
                </a:solidFill>
                <a:latin typeface="Calibri"/>
              </a:rPr>
              <a:pPr>
                <a:defRPr/>
              </a:pPr>
              <a:t>16</a:t>
            </a:fld>
            <a:endParaRPr lang="en-GB" dirty="0">
              <a:solidFill>
                <a:srgbClr val="1F497D"/>
              </a:solidFill>
              <a:latin typeface="Calibri"/>
            </a:endParaRPr>
          </a:p>
        </p:txBody>
      </p:sp>
      <p:sp>
        <p:nvSpPr>
          <p:cNvPr id="9" name="Rectangle 16">
            <a:extLst>
              <a:ext uri="{FF2B5EF4-FFF2-40B4-BE49-F238E27FC236}">
                <a16:creationId xmlns:a16="http://schemas.microsoft.com/office/drawing/2014/main" id="{36AE653A-9CF8-41FF-9C86-C51C18CACB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7468" y="1230980"/>
            <a:ext cx="6168208" cy="623730"/>
          </a:xfrm>
          <a:prstGeom prst="rect">
            <a:avLst/>
          </a:prstGeom>
          <a:solidFill>
            <a:srgbClr val="FFFF66"/>
          </a:solidFill>
          <a:ln>
            <a:noFill/>
          </a:ln>
          <a:effectLst>
            <a:outerShdw dist="107763" dir="2700000" algn="ctr" rotWithShape="0">
              <a:srgbClr val="FFB953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9056" tIns="34529" rIns="69056" bIns="34529" anchor="ctr">
            <a:spAutoFit/>
          </a:bodyPr>
          <a:lstStyle/>
          <a:p>
            <a:pPr defTabSz="554831"/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fn main() {</a:t>
            </a:r>
          </a:p>
          <a:p>
            <a:pPr defTabSz="554831"/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println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!("Hello, world!");</a:t>
            </a:r>
          </a:p>
          <a:p>
            <a:pPr defTabSz="554831"/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9EEC7A-5A65-4FBA-9794-35CBEAE99655}"/>
              </a:ext>
            </a:extLst>
          </p:cNvPr>
          <p:cNvSpPr txBox="1"/>
          <p:nvPr/>
        </p:nvSpPr>
        <p:spPr>
          <a:xfrm>
            <a:off x="6558432" y="1580709"/>
            <a:ext cx="1207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b="1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src/main.rs</a:t>
            </a:r>
          </a:p>
        </p:txBody>
      </p:sp>
    </p:spTree>
    <p:extLst>
      <p:ext uri="{BB962C8B-B14F-4D97-AF65-F5344CB8AC3E}">
        <p14:creationId xmlns:p14="http://schemas.microsoft.com/office/powerpoint/2010/main" val="3669245028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026"/>
          <p:cNvSpPr>
            <a:spLocks noChangeArrowheads="1"/>
          </p:cNvSpPr>
          <p:nvPr/>
        </p:nvSpPr>
        <p:spPr bwMode="auto">
          <a:xfrm>
            <a:off x="1678782" y="4669631"/>
            <a:ext cx="1394222" cy="386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075" name="Rectangle 1027"/>
          <p:cNvSpPr>
            <a:spLocks noChangeArrowheads="1"/>
          </p:cNvSpPr>
          <p:nvPr/>
        </p:nvSpPr>
        <p:spPr bwMode="auto">
          <a:xfrm>
            <a:off x="3487341" y="4669631"/>
            <a:ext cx="2169319" cy="386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076" name="Rectangle 102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600" dirty="0"/>
              <a:t>Building/Running in Dev Mode</a:t>
            </a:r>
            <a:endParaRPr lang="en-GB" dirty="0"/>
          </a:p>
        </p:txBody>
      </p:sp>
      <p:sp>
        <p:nvSpPr>
          <p:cNvPr id="3077" name="Rectangle 1030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dirty="0"/>
              <a:t>To build the application in dev mode:</a:t>
            </a:r>
          </a:p>
          <a:p>
            <a:pPr lvl="1"/>
            <a:r>
              <a:rPr lang="en-GB" dirty="0"/>
              <a:t>Fast build (unoptimized, contains debug info)</a:t>
            </a:r>
          </a:p>
          <a:p>
            <a:pPr lvl="1"/>
            <a:r>
              <a:rPr lang="en-GB" dirty="0"/>
              <a:t>Creates app 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.\target\debug\</a:t>
            </a:r>
          </a:p>
          <a:p>
            <a:pPr lvl="1"/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dirty="0">
                <a:latin typeface="+mj-lt"/>
                <a:cs typeface="Courier New" panose="02070309020205020404" pitchFamily="49" charset="0"/>
              </a:rPr>
              <a:t>To run the application (e.g. on Windows):</a:t>
            </a:r>
          </a:p>
          <a:p>
            <a:pPr lvl="1"/>
            <a:r>
              <a:rPr lang="en-GB" dirty="0"/>
              <a:t> </a:t>
            </a:r>
          </a:p>
          <a:p>
            <a:pPr lvl="1"/>
            <a:endParaRPr lang="en-GB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EA84A298-7EB9-439A-BF21-B03BD6A61B59}"/>
              </a:ext>
            </a:extLst>
          </p:cNvPr>
          <p:cNvSpPr txBox="1">
            <a:spLocks/>
          </p:cNvSpPr>
          <p:nvPr/>
        </p:nvSpPr>
        <p:spPr bwMode="auto">
          <a:xfrm>
            <a:off x="8576156" y="4630835"/>
            <a:ext cx="52050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ctr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20D3A3B2-EA16-4B4A-AE9A-D51E3039C102}" type="slidenum">
              <a:rPr lang="en-GB" smtClean="0">
                <a:solidFill>
                  <a:srgbClr val="1F497D"/>
                </a:solidFill>
                <a:latin typeface="Calibri"/>
              </a:rPr>
              <a:pPr>
                <a:defRPr/>
              </a:pPr>
              <a:t>17</a:t>
            </a:fld>
            <a:endParaRPr lang="en-GB" dirty="0">
              <a:solidFill>
                <a:srgbClr val="1F497D"/>
              </a:solidFill>
              <a:latin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00337D-8989-4F75-95F2-911B8D689BEE}"/>
              </a:ext>
            </a:extLst>
          </p:cNvPr>
          <p:cNvSpPr txBox="1"/>
          <p:nvPr/>
        </p:nvSpPr>
        <p:spPr>
          <a:xfrm>
            <a:off x="1597468" y="1939737"/>
            <a:ext cx="6242167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GB" sz="1200" b="0" i="0" u="none" strike="noStrike" baseline="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cargo build</a:t>
            </a:r>
            <a:endParaRPr lang="en-GB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798B83-DB68-4C54-95F4-7585BE0E4A07}"/>
              </a:ext>
            </a:extLst>
          </p:cNvPr>
          <p:cNvSpPr txBox="1"/>
          <p:nvPr/>
        </p:nvSpPr>
        <p:spPr>
          <a:xfrm>
            <a:off x="1597468" y="3104028"/>
            <a:ext cx="6242167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GB" sz="1200" b="0" i="0" u="none" strike="noStrike" baseline="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.\target\debug\hello_world_via_cargo.exe</a:t>
            </a:r>
            <a:endParaRPr lang="en-GB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5996560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026"/>
          <p:cNvSpPr>
            <a:spLocks noChangeArrowheads="1"/>
          </p:cNvSpPr>
          <p:nvPr/>
        </p:nvSpPr>
        <p:spPr bwMode="auto">
          <a:xfrm>
            <a:off x="1678782" y="4669631"/>
            <a:ext cx="1394222" cy="386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075" name="Rectangle 1027"/>
          <p:cNvSpPr>
            <a:spLocks noChangeArrowheads="1"/>
          </p:cNvSpPr>
          <p:nvPr/>
        </p:nvSpPr>
        <p:spPr bwMode="auto">
          <a:xfrm>
            <a:off x="3487341" y="4669631"/>
            <a:ext cx="2169319" cy="386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076" name="Rectangle 102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600" dirty="0"/>
              <a:t>Building/Running in Release Mode</a:t>
            </a:r>
            <a:endParaRPr lang="en-GB" dirty="0"/>
          </a:p>
        </p:txBody>
      </p:sp>
      <p:sp>
        <p:nvSpPr>
          <p:cNvPr id="3077" name="Rectangle 1030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dirty="0"/>
              <a:t>To build the application in release mode:</a:t>
            </a:r>
          </a:p>
          <a:p>
            <a:pPr lvl="1"/>
            <a:r>
              <a:rPr lang="en-GB" dirty="0"/>
              <a:t>Slower build (optimized, no debug info)</a:t>
            </a:r>
          </a:p>
          <a:p>
            <a:pPr lvl="1"/>
            <a:r>
              <a:rPr lang="en-GB" dirty="0"/>
              <a:t>Creates app 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.\target\release\</a:t>
            </a:r>
          </a:p>
          <a:p>
            <a:pPr lvl="1"/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dirty="0">
                <a:latin typeface="+mj-lt"/>
                <a:cs typeface="Courier New" panose="02070309020205020404" pitchFamily="49" charset="0"/>
              </a:rPr>
              <a:t>To run the application (e.g. on Windows):</a:t>
            </a:r>
          </a:p>
          <a:p>
            <a:pPr lvl="1"/>
            <a:r>
              <a:rPr lang="en-GB" dirty="0"/>
              <a:t> </a:t>
            </a:r>
          </a:p>
          <a:p>
            <a:pPr lvl="1"/>
            <a:endParaRPr lang="en-GB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EA84A298-7EB9-439A-BF21-B03BD6A61B59}"/>
              </a:ext>
            </a:extLst>
          </p:cNvPr>
          <p:cNvSpPr txBox="1">
            <a:spLocks/>
          </p:cNvSpPr>
          <p:nvPr/>
        </p:nvSpPr>
        <p:spPr bwMode="auto">
          <a:xfrm>
            <a:off x="8576156" y="4630835"/>
            <a:ext cx="52050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ctr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20D3A3B2-EA16-4B4A-AE9A-D51E3039C102}" type="slidenum">
              <a:rPr lang="en-GB" smtClean="0">
                <a:solidFill>
                  <a:srgbClr val="1F497D"/>
                </a:solidFill>
                <a:latin typeface="Calibri"/>
              </a:rPr>
              <a:pPr>
                <a:defRPr/>
              </a:pPr>
              <a:t>18</a:t>
            </a:fld>
            <a:endParaRPr lang="en-GB" dirty="0">
              <a:solidFill>
                <a:srgbClr val="1F497D"/>
              </a:solidFill>
              <a:latin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00337D-8989-4F75-95F2-911B8D689BEE}"/>
              </a:ext>
            </a:extLst>
          </p:cNvPr>
          <p:cNvSpPr txBox="1"/>
          <p:nvPr/>
        </p:nvSpPr>
        <p:spPr>
          <a:xfrm>
            <a:off x="1597468" y="1939737"/>
            <a:ext cx="6242167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GB" sz="1200" b="0" i="0" u="none" strike="noStrike" baseline="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cargo build --release</a:t>
            </a:r>
            <a:endParaRPr lang="en-GB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798B83-DB68-4C54-95F4-7585BE0E4A07}"/>
              </a:ext>
            </a:extLst>
          </p:cNvPr>
          <p:cNvSpPr txBox="1"/>
          <p:nvPr/>
        </p:nvSpPr>
        <p:spPr>
          <a:xfrm>
            <a:off x="1597468" y="3104028"/>
            <a:ext cx="6242167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GB" sz="1200" b="0" i="0" u="none" strike="noStrike" baseline="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.\target\release\hello_world_via_cargo.exe</a:t>
            </a:r>
            <a:endParaRPr lang="en-GB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7884139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026"/>
          <p:cNvSpPr>
            <a:spLocks noChangeArrowheads="1"/>
          </p:cNvSpPr>
          <p:nvPr/>
        </p:nvSpPr>
        <p:spPr bwMode="auto">
          <a:xfrm>
            <a:off x="1678782" y="4669631"/>
            <a:ext cx="1394222" cy="386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075" name="Rectangle 1027"/>
          <p:cNvSpPr>
            <a:spLocks noChangeArrowheads="1"/>
          </p:cNvSpPr>
          <p:nvPr/>
        </p:nvSpPr>
        <p:spPr bwMode="auto">
          <a:xfrm>
            <a:off x="3487341" y="4669631"/>
            <a:ext cx="2169319" cy="386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076" name="Rectangle 102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600" dirty="0"/>
              <a:t>Additional Cargo Techniques</a:t>
            </a:r>
            <a:endParaRPr lang="en-GB" dirty="0"/>
          </a:p>
        </p:txBody>
      </p:sp>
      <p:sp>
        <p:nvSpPr>
          <p:cNvPr id="3077" name="Rectangle 1030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dirty="0"/>
              <a:t>You can build/run in one go:</a:t>
            </a:r>
          </a:p>
          <a:p>
            <a:pPr lvl="1"/>
            <a:r>
              <a:rPr lang="en-GB" dirty="0"/>
              <a:t>Builds the app if it's changed, then runs it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r>
              <a:rPr lang="en-GB" dirty="0"/>
              <a:t>If you just want a quick check to see if the code compiles:</a:t>
            </a:r>
          </a:p>
          <a:p>
            <a:pPr lvl="1"/>
            <a:r>
              <a:rPr lang="en-GB" dirty="0"/>
              <a:t>Faster than a "build" because it doesn't generate an executable</a:t>
            </a:r>
          </a:p>
          <a:p>
            <a:pPr eaLnBrk="1" hangingPunct="1"/>
            <a:endParaRPr lang="en-GB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EA84A298-7EB9-439A-BF21-B03BD6A61B59}"/>
              </a:ext>
            </a:extLst>
          </p:cNvPr>
          <p:cNvSpPr txBox="1">
            <a:spLocks/>
          </p:cNvSpPr>
          <p:nvPr/>
        </p:nvSpPr>
        <p:spPr bwMode="auto">
          <a:xfrm>
            <a:off x="8576156" y="4630835"/>
            <a:ext cx="52050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ctr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20D3A3B2-EA16-4B4A-AE9A-D51E3039C102}" type="slidenum">
              <a:rPr lang="en-GB" smtClean="0">
                <a:solidFill>
                  <a:srgbClr val="1F497D"/>
                </a:solidFill>
                <a:latin typeface="Calibri"/>
              </a:rPr>
              <a:pPr>
                <a:defRPr/>
              </a:pPr>
              <a:t>19</a:t>
            </a:fld>
            <a:endParaRPr lang="en-GB" dirty="0">
              <a:solidFill>
                <a:srgbClr val="1F497D"/>
              </a:solidFill>
              <a:latin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00337D-8989-4F75-95F2-911B8D689BEE}"/>
              </a:ext>
            </a:extLst>
          </p:cNvPr>
          <p:cNvSpPr txBox="1"/>
          <p:nvPr/>
        </p:nvSpPr>
        <p:spPr>
          <a:xfrm>
            <a:off x="1597468" y="1609576"/>
            <a:ext cx="2554311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GB" sz="1200" b="0" i="0" u="none" strike="noStrike" baseline="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cargo run</a:t>
            </a:r>
            <a:endParaRPr lang="en-GB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19A4DE-19AD-4734-A456-F997D7C80B74}"/>
              </a:ext>
            </a:extLst>
          </p:cNvPr>
          <p:cNvSpPr txBox="1"/>
          <p:nvPr/>
        </p:nvSpPr>
        <p:spPr>
          <a:xfrm>
            <a:off x="4757584" y="1609576"/>
            <a:ext cx="3082051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GB" sz="1200" b="0" i="0" u="none" strike="noStrike" baseline="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cargo run --release</a:t>
            </a:r>
            <a:endParaRPr lang="en-GB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Rectangle 1030">
            <a:extLst>
              <a:ext uri="{FF2B5EF4-FFF2-40B4-BE49-F238E27FC236}">
                <a16:creationId xmlns:a16="http://schemas.microsoft.com/office/drawing/2014/main" id="{246E979D-998F-4DF5-936A-E65C9E87E0C8}"/>
              </a:ext>
            </a:extLst>
          </p:cNvPr>
          <p:cNvSpPr txBox="1">
            <a:spLocks noChangeArrowheads="1"/>
          </p:cNvSpPr>
          <p:nvPr/>
        </p:nvSpPr>
        <p:spPr>
          <a:xfrm>
            <a:off x="4252630" y="1516145"/>
            <a:ext cx="434326" cy="4028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/>
              <a:t>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1750DD-B85B-4D43-9781-82AD23637FE1}"/>
              </a:ext>
            </a:extLst>
          </p:cNvPr>
          <p:cNvSpPr txBox="1"/>
          <p:nvPr/>
        </p:nvSpPr>
        <p:spPr>
          <a:xfrm>
            <a:off x="1597468" y="3114175"/>
            <a:ext cx="6242167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GB" sz="1200" b="0" i="0" u="none" strike="noStrike" baseline="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cargo check</a:t>
            </a:r>
            <a:endParaRPr lang="en-GB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7271898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38809" y="184354"/>
            <a:ext cx="5289902" cy="93187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Summary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58FE4899-46EA-4D85-B506-C969501309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8810" y="982981"/>
            <a:ext cx="5289902" cy="3351559"/>
          </a:xfrm>
        </p:spPr>
        <p:txBody>
          <a:bodyPr>
            <a:normAutofit/>
          </a:bodyPr>
          <a:lstStyle/>
          <a:p>
            <a:pPr marL="449263" indent="-393700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Setting the scene</a:t>
            </a:r>
          </a:p>
          <a:p>
            <a:pPr marL="449263" indent="-393700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Hello World in Rust</a:t>
            </a:r>
          </a:p>
          <a:p>
            <a:pPr marL="449263" indent="-393700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Using Cargo</a:t>
            </a:r>
          </a:p>
          <a:p>
            <a:pPr marL="449263" indent="-393700">
              <a:buFont typeface="Arial" panose="020B0604020202020204" pitchFamily="34" charset="0"/>
              <a:buChar char="•"/>
              <a:tabLst>
                <a:tab pos="446088" algn="l"/>
              </a:tabLst>
            </a:pPr>
            <a:endParaRPr lang="en-GB" sz="2200" dirty="0"/>
          </a:p>
          <a:p>
            <a:pPr marL="449263" indent="-393700">
              <a:buFont typeface="Arial" panose="020B0604020202020204" pitchFamily="34" charset="0"/>
              <a:buChar char="•"/>
              <a:tabLst>
                <a:tab pos="446088" algn="l"/>
              </a:tabLst>
            </a:pP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4185660244"/>
      </p:ext>
    </p:extLst>
  </p:cSld>
  <p:clrMapOvr>
    <a:masterClrMapping/>
  </p:clrMapOvr>
</p:sld>
</file>

<file path=ppt/theme/theme1.xml><?xml version="1.0" encoding="utf-8"?>
<a:theme xmlns:a="http://schemas.openxmlformats.org/drawingml/2006/main" name="Standard_LiveLessons_2017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tandard_LiveLessons_2016.potm" id="{8C1633E9-E98A-446F-92F4-E3D84D4249FA}" vid="{A44C486B-6B48-42BE-B4AA-FE194AC1400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Standard_LiveLessons_2017.potm</Template>
  <TotalTime>1495</TotalTime>
  <Words>918</Words>
  <Application>Microsoft Office PowerPoint</Application>
  <PresentationFormat>On-screen Show (16:9)</PresentationFormat>
  <Paragraphs>186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Courier New</vt:lpstr>
      <vt:lpstr>Times New Roman</vt:lpstr>
      <vt:lpstr>Standard_LiveLessons_2017</vt:lpstr>
      <vt:lpstr>Getting Started with Rust</vt:lpstr>
      <vt:lpstr>1. Setting the Scene</vt:lpstr>
      <vt:lpstr>What is Rust?</vt:lpstr>
      <vt:lpstr>Installing Rust</vt:lpstr>
      <vt:lpstr>Verifying Rust Installation</vt:lpstr>
      <vt:lpstr>2. Hello World in Rust</vt:lpstr>
      <vt:lpstr>Writing a Simple Application</vt:lpstr>
      <vt:lpstr>Formatting the Code</vt:lpstr>
      <vt:lpstr>Building the Application</vt:lpstr>
      <vt:lpstr>Running the Application</vt:lpstr>
      <vt:lpstr>Aside: Using the Rust Playground</vt:lpstr>
      <vt:lpstr>3. Using Cargo</vt:lpstr>
      <vt:lpstr>What is Cargo?</vt:lpstr>
      <vt:lpstr>Creating a New Application using Cargo</vt:lpstr>
      <vt:lpstr>Reviewing the .toml file</vt:lpstr>
      <vt:lpstr>Reviewing the Source Code</vt:lpstr>
      <vt:lpstr>Building/Running in Dev Mode</vt:lpstr>
      <vt:lpstr>Building/Running in Release Mode</vt:lpstr>
      <vt:lpstr>Additional Cargo Techniques</vt:lpstr>
      <vt:lpstr>Summary</vt:lpstr>
    </vt:vector>
  </TitlesOfParts>
  <Company>Pearson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Julie Phifer</dc:creator>
  <cp:lastModifiedBy>Andy Olsen</cp:lastModifiedBy>
  <cp:revision>112</cp:revision>
  <dcterms:created xsi:type="dcterms:W3CDTF">2015-09-28T19:52:00Z</dcterms:created>
  <dcterms:modified xsi:type="dcterms:W3CDTF">2025-05-15T18:54:30Z</dcterms:modified>
</cp:coreProperties>
</file>